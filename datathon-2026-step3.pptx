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70" r:id="rId10"/>
    <p:sldId id="271" r:id="rId11"/>
    <p:sldId id="263" r:id="rId12"/>
    <p:sldId id="265" r:id="rId13"/>
    <p:sldId id="266" r:id="rId14"/>
    <p:sldId id="267" r:id="rId15"/>
    <p:sldId id="268" r:id="rId16"/>
    <p:sldId id="269" r:id="rId17"/>
    <p:sldId id="273" r:id="rId18"/>
  </p:sldIdLst>
  <p:sldSz cx="9144000" cy="5143500" type="screen16x9"/>
  <p:notesSz cx="6858000" cy="9144000"/>
  <p:defaultTextStyle>
    <a:defPPr>
      <a:defRPr lang="en-I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80"/>
    <p:restoredTop sz="94589"/>
  </p:normalViewPr>
  <p:slideViewPr>
    <p:cSldViewPr snapToGrid="0">
      <p:cViewPr varScale="1">
        <p:scale>
          <a:sx n="133" d="100"/>
          <a:sy n="133" d="100"/>
        </p:scale>
        <p:origin x="208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DCF37-A364-CF5E-9FC3-62FD9C151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5B3EBE-D952-60D6-90D8-E040B5AAE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CB7912-C740-B38F-F44D-8FB453F24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B937B-494B-3EA1-1F35-3092FE0BDDB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62839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D7ECD-9343-946A-1F35-82B24443E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8D891-8E9E-C2D7-8ACE-FD686AD683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2DBC7F-A2DF-A23D-C1AC-758C0363A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A085B-BE71-5F58-C7AD-090AFD89DFE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756359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C7303-B7A9-EE6F-0C36-B0A39BAB3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64670A-49CD-01D0-9A2F-AC4583BF2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6A8800-7C1B-90F4-B9DE-B8164696C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5EB71-A9AA-AEBA-CBE8-BC912AAC926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8610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465BC38-7207-4900-8071-523B72F70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943100"/>
            <a:ext cx="7315200" cy="7429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75ED0EE-DB89-49E0-BF66-496392B43A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828925"/>
            <a:ext cx="6400800" cy="571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D7F6C85-228B-4058-BF5E-3A7CDACE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143125"/>
            <a:ext cx="7315200" cy="857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9D47EB6-E0A2-45AA-90D7-65AF3F8B4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F06CDF5-2F4B-477C-B860-612865755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428750"/>
            <a:ext cx="8115300" cy="32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B08ED41-4772-4D11-B97A-EA1DD0EFA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C2CBE34-EFF5-4BCD-8B9E-A4E664223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428750"/>
            <a:ext cx="3771900" cy="32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1A6622FD-64FB-4977-8B59-04728E8F66F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57750" y="1428750"/>
            <a:ext cx="3771900" cy="32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CF5475D-D982-4554-99BC-EDEA81D8B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AC7D465-41D3-4CC6-BCB5-EE4049CD4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428750"/>
            <a:ext cx="3771900" cy="32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9BED5AD-415B-4909-B60F-9F0843E70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EA5241-D50E-4845-92C5-0203CBC2E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244334" y="124002"/>
            <a:ext cx="1899666" cy="756389"/>
          </a:xfrm>
          <a:prstGeom prst="rect">
            <a:avLst/>
          </a:prstGeom>
        </p:spPr>
      </p:pic>
      <p:sp>
        <p:nvSpPr>
          <p:cNvPr id="9" name="Text-1">
            <a:extLst>
              <a:ext uri="{FF2B5EF4-FFF2-40B4-BE49-F238E27FC236}">
                <a16:creationId xmlns:a16="http://schemas.microsoft.com/office/drawing/2014/main" id="{A53B71F1-A82B-4643-91DB-45325C283A87}"/>
              </a:ext>
            </a:extLst>
          </p:cNvPr>
          <p:cNvSpPr>
            <a:spLocks noGrp="1"/>
          </p:cNvSpPr>
          <p:nvPr/>
        </p:nvSpPr>
        <p:spPr>
          <a:xfrm>
            <a:off x="2218087" y="1683163"/>
            <a:ext cx="4861352" cy="617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>
            <a:defPPr>
              <a:defRPr sz="3600"/>
            </a:defPPr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>
              <a:defRPr sz="3600"/>
            </a:pPr>
            <a:r>
              <a:rPr sz="3600" b="0" dirty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HVDS AI </a:t>
            </a:r>
            <a:r>
              <a:rPr sz="3600" b="0" dirty="0" err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Gagnathon</a:t>
            </a:r>
            <a:r>
              <a:rPr sz="3600" b="0" dirty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 202</a:t>
            </a:r>
            <a:r>
              <a:rPr lang="is-IS" sz="3600" b="0" dirty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6</a:t>
            </a:r>
            <a:endParaRPr sz="3600" b="0" dirty="0">
              <a:solidFill>
                <a:srgbClr val="246FA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-2">
            <a:extLst>
              <a:ext uri="{FF2B5EF4-FFF2-40B4-BE49-F238E27FC236}">
                <a16:creationId xmlns:a16="http://schemas.microsoft.com/office/drawing/2014/main" id="{17FD24F5-E284-46A3-993B-9BB7E5906D46}"/>
              </a:ext>
            </a:extLst>
          </p:cNvPr>
          <p:cNvSpPr>
            <a:spLocks noGrp="1"/>
          </p:cNvSpPr>
          <p:nvPr/>
        </p:nvSpPr>
        <p:spPr>
          <a:xfrm>
            <a:off x="3777139" y="3348514"/>
            <a:ext cx="1741400" cy="231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>
              <a:defRPr sz="1350"/>
            </a:pPr>
            <a:r>
              <a:rPr sz="135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Presentation for teams</a:t>
            </a:r>
          </a:p>
        </p:txBody>
      </p:sp>
      <p:sp>
        <p:nvSpPr>
          <p:cNvPr id="11" name="Text-3">
            <a:extLst>
              <a:ext uri="{FF2B5EF4-FFF2-40B4-BE49-F238E27FC236}">
                <a16:creationId xmlns:a16="http://schemas.microsoft.com/office/drawing/2014/main" id="{84F19B41-699F-4203-BC75-AEF34E7CAC1B}"/>
              </a:ext>
            </a:extLst>
          </p:cNvPr>
          <p:cNvSpPr>
            <a:spLocks noGrp="1"/>
          </p:cNvSpPr>
          <p:nvPr/>
        </p:nvSpPr>
        <p:spPr>
          <a:xfrm>
            <a:off x="4181761" y="3554254"/>
            <a:ext cx="934212" cy="231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>
              <a:defRPr sz="1350"/>
            </a:pPr>
            <a:r>
              <a:rPr lang="is-I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28</a:t>
            </a:r>
            <a:r>
              <a:rPr sz="13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.10.202</a:t>
            </a:r>
            <a:r>
              <a:rPr lang="is-IS" sz="1350" b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</a:t>
            </a:r>
            <a:endParaRPr sz="1350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210B4AF-9B6D-C211-3594-1F5D44EF40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83" y="4576865"/>
            <a:ext cx="6961511" cy="56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402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>
            <a:extLst>
              <a:ext uri="{FF2B5EF4-FFF2-40B4-BE49-F238E27FC236}">
                <a16:creationId xmlns:a16="http://schemas.microsoft.com/office/drawing/2014/main" id="{227E1925-7086-4741-AC15-90AB8F3CA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-270892" y="0"/>
            <a:ext cx="9414891" cy="5143500"/>
          </a:xfrm>
          <a:prstGeom prst="rect">
            <a:avLst/>
          </a:prstGeom>
        </p:spPr>
      </p:pic>
      <p:pic>
        <p:nvPicPr>
          <p:cNvPr id="3" name="Picture 1">
            <a:extLst>
              <a:ext uri="{FF2B5EF4-FFF2-40B4-BE49-F238E27FC236}">
                <a16:creationId xmlns:a16="http://schemas.microsoft.com/office/drawing/2014/main" id="{632C1E11-1616-4284-ACB1-A7C925EE1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300683" y="4667393"/>
            <a:ext cx="880934" cy="315511"/>
          </a:xfrm>
          <a:prstGeom prst="rect">
            <a:avLst/>
          </a:prstGeom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3F2CC7EE-6815-4AA3-B519-E6804D62F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991027" y="4718928"/>
            <a:ext cx="828702" cy="317773"/>
          </a:xfrm>
          <a:prstGeom prst="rect">
            <a:avLst/>
          </a:prstGeom>
        </p:spPr>
      </p:pic>
      <p:sp>
        <p:nvSpPr>
          <p:cNvPr id="5" name="Text-9">
            <a:extLst>
              <a:ext uri="{FF2B5EF4-FFF2-40B4-BE49-F238E27FC236}">
                <a16:creationId xmlns:a16="http://schemas.microsoft.com/office/drawing/2014/main" id="{5D4BE282-152F-4F54-963D-DEF54330B2F0}"/>
              </a:ext>
            </a:extLst>
          </p:cNvPr>
          <p:cNvSpPr>
            <a:spLocks noGrp="1"/>
          </p:cNvSpPr>
          <p:nvPr/>
        </p:nvSpPr>
        <p:spPr>
          <a:xfrm>
            <a:off x="8705850" y="4880610"/>
            <a:ext cx="239325" cy="231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>
              <a:defRPr sz="1350"/>
            </a:pPr>
            <a:r>
              <a:rPr sz="1350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pic>
        <p:nvPicPr>
          <p:cNvPr id="6" name="Picture 20">
            <a:extLst>
              <a:ext uri="{FF2B5EF4-FFF2-40B4-BE49-F238E27FC236}">
                <a16:creationId xmlns:a16="http://schemas.microsoft.com/office/drawing/2014/main" id="{3C0C511F-F0B7-1D6C-2091-024F54767D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693061"/>
            <a:ext cx="1135987" cy="313376"/>
          </a:xfrm>
          <a:prstGeom prst="rect">
            <a:avLst/>
          </a:prstGeom>
        </p:spPr>
      </p:pic>
      <p:pic>
        <p:nvPicPr>
          <p:cNvPr id="7" name="Graphic 22">
            <a:extLst>
              <a:ext uri="{FF2B5EF4-FFF2-40B4-BE49-F238E27FC236}">
                <a16:creationId xmlns:a16="http://schemas.microsoft.com/office/drawing/2014/main" id="{0720B682-B2E4-992B-C381-BD5CE9F76A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83085" y="5562040"/>
            <a:ext cx="1520634" cy="386390"/>
          </a:xfrm>
          <a:prstGeom prst="rect">
            <a:avLst/>
          </a:prstGeom>
        </p:spPr>
      </p:pic>
      <p:pic>
        <p:nvPicPr>
          <p:cNvPr id="8" name="Picture 25">
            <a:extLst>
              <a:ext uri="{FF2B5EF4-FFF2-40B4-BE49-F238E27FC236}">
                <a16:creationId xmlns:a16="http://schemas.microsoft.com/office/drawing/2014/main" id="{3F5EE2EF-C074-6755-E368-DA25919F763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261" y="4667393"/>
            <a:ext cx="1089280" cy="342146"/>
          </a:xfrm>
          <a:prstGeom prst="rect">
            <a:avLst/>
          </a:prstGeom>
        </p:spPr>
      </p:pic>
      <p:pic>
        <p:nvPicPr>
          <p:cNvPr id="9" name="Picture 27">
            <a:extLst>
              <a:ext uri="{FF2B5EF4-FFF2-40B4-BE49-F238E27FC236}">
                <a16:creationId xmlns:a16="http://schemas.microsoft.com/office/drawing/2014/main" id="{9856EB70-FC09-47D7-7540-7C5E1A3253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431" y="4667393"/>
            <a:ext cx="1064966" cy="33007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5D3C8E7-7B86-46C4-9779-972EE750B15E}"/>
              </a:ext>
            </a:extLst>
          </p:cNvPr>
          <p:cNvSpPr>
            <a:spLocks noGrp="1"/>
          </p:cNvSpPr>
          <p:nvPr/>
        </p:nvSpPr>
        <p:spPr>
          <a:xfrm>
            <a:off x="356587" y="952500"/>
            <a:ext cx="8468925" cy="3683461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152582-E5EB-481A-BF98-596347F36537}"/>
              </a:ext>
            </a:extLst>
          </p:cNvPr>
          <p:cNvSpPr>
            <a:spLocks noGrp="1"/>
          </p:cNvSpPr>
          <p:nvPr/>
        </p:nvSpPr>
        <p:spPr>
          <a:xfrm>
            <a:off x="356586" y="382883"/>
            <a:ext cx="7858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2550" b="0" dirty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Welcome to </a:t>
            </a:r>
            <a:r>
              <a:rPr sz="2550" b="0" dirty="0" err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Gagnaþon</a:t>
            </a:r>
            <a:r>
              <a:rPr sz="2550" b="0" dirty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 2026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595218-B059-40D6-9588-C9E72A95E163}"/>
              </a:ext>
            </a:extLst>
          </p:cNvPr>
          <p:cNvSpPr>
            <a:spLocks noGrp="1"/>
          </p:cNvSpPr>
          <p:nvPr/>
        </p:nvSpPr>
        <p:spPr>
          <a:xfrm>
            <a:off x="356587" y="1025821"/>
            <a:ext cx="7858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defPPr>
            <a:lvl1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1pPr>
            <a:lvl2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2pPr>
            <a:lvl3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3pPr>
            <a:lvl4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4pPr>
            <a:lvl5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5pPr>
            <a:lvl6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6pPr>
            <a:lvl7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7pPr>
            <a:lvl8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8pPr>
            <a:lvl9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575" b="0" dirty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The third Statistics Iceland AI data hackathon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76D074-BA76-4699-91B5-2540CAC96F62}"/>
              </a:ext>
            </a:extLst>
          </p:cNvPr>
          <p:cNvSpPr>
            <a:spLocks noGrp="1"/>
          </p:cNvSpPr>
          <p:nvPr/>
        </p:nvSpPr>
        <p:spPr>
          <a:xfrm>
            <a:off x="491261" y="1616371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The challenge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E386C7-A793-4482-9940-61631A179571}"/>
              </a:ext>
            </a:extLst>
          </p:cNvPr>
          <p:cNvSpPr>
            <a:spLocks noGrp="1"/>
          </p:cNvSpPr>
          <p:nvPr/>
        </p:nvSpPr>
        <p:spPr>
          <a:xfrm>
            <a:off x="2662961" y="1616371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 dirty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Build a chatbot that makes official statistics easier to find and understand.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3D6807-FAE5-48CE-B25D-41D38B3E1DCF}"/>
              </a:ext>
            </a:extLst>
          </p:cNvPr>
          <p:cNvSpPr>
            <a:spLocks noGrp="1"/>
          </p:cNvSpPr>
          <p:nvPr/>
        </p:nvSpPr>
        <p:spPr>
          <a:xfrm>
            <a:off x="491261" y="2521246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The teams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97F6B8-1F07-468F-8D36-CD5761138DFF}"/>
              </a:ext>
            </a:extLst>
          </p:cNvPr>
          <p:cNvSpPr>
            <a:spLocks noGrp="1"/>
          </p:cNvSpPr>
          <p:nvPr/>
        </p:nvSpPr>
        <p:spPr>
          <a:xfrm>
            <a:off x="2662961" y="2521246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Students, professionals and companies working with open data and AI.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260A22-22AB-4E24-B430-62537D9E073A}"/>
              </a:ext>
            </a:extLst>
          </p:cNvPr>
          <p:cNvSpPr>
            <a:spLocks noGrp="1"/>
          </p:cNvSpPr>
          <p:nvPr/>
        </p:nvSpPr>
        <p:spPr>
          <a:xfrm>
            <a:off x="491261" y="3407071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The venue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742987-C9E6-430A-8633-4AEB12F00C50}"/>
              </a:ext>
            </a:extLst>
          </p:cNvPr>
          <p:cNvSpPr>
            <a:spLocks noGrp="1"/>
          </p:cNvSpPr>
          <p:nvPr/>
        </p:nvSpPr>
        <p:spPr>
          <a:xfrm>
            <a:off x="2662961" y="3407071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Gróska · Fenjamýri</a:t>
            </a:r>
          </a:p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Ground-floor south entrance, opposite Eiríksdóttir.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2C020F0-E43D-5DD6-65A1-491286497D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7215414" y="2924679"/>
            <a:ext cx="1729761" cy="168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053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1">
            <a:extLst>
              <a:ext uri="{FF2B5EF4-FFF2-40B4-BE49-F238E27FC236}">
                <a16:creationId xmlns:a16="http://schemas.microsoft.com/office/drawing/2014/main" id="{05D6B3DA-646C-4761-9A05-44F905D23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ext-13">
            <a:extLst>
              <a:ext uri="{FF2B5EF4-FFF2-40B4-BE49-F238E27FC236}">
                <a16:creationId xmlns:a16="http://schemas.microsoft.com/office/drawing/2014/main" id="{DBDEEE68-4E8A-4320-BC5B-09BD446FC36C}"/>
              </a:ext>
            </a:extLst>
          </p:cNvPr>
          <p:cNvSpPr>
            <a:spLocks noGrp="1"/>
          </p:cNvSpPr>
          <p:nvPr/>
        </p:nvSpPr>
        <p:spPr>
          <a:xfrm>
            <a:off x="8705850" y="4860036"/>
            <a:ext cx="239325" cy="231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>
              <a:defRPr sz="1350"/>
            </a:pPr>
            <a:r>
              <a:rPr sz="1350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7A0FEA-96F9-4088-9907-6F38A7560E3E}"/>
              </a:ext>
            </a:extLst>
          </p:cNvPr>
          <p:cNvSpPr>
            <a:spLocks noGrp="1"/>
          </p:cNvSpPr>
          <p:nvPr/>
        </p:nvSpPr>
        <p:spPr>
          <a:xfrm>
            <a:off x="695325" y="409575"/>
            <a:ext cx="7858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270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270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270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270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270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270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270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270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270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70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Welcome to the HVDS Gagnaþon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DB6EDE-54DB-47F3-8A06-19305E0730BE}"/>
              </a:ext>
            </a:extLst>
          </p:cNvPr>
          <p:cNvSpPr>
            <a:spLocks noGrp="1"/>
          </p:cNvSpPr>
          <p:nvPr/>
        </p:nvSpPr>
        <p:spPr>
          <a:xfrm>
            <a:off x="695325" y="123825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202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202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202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202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202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202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202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202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202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Two days to build a statistical assistant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FE2713-7C24-4684-97BD-CBCD5A950626}"/>
              </a:ext>
            </a:extLst>
          </p:cNvPr>
          <p:cNvSpPr>
            <a:spLocks noGrp="1"/>
          </p:cNvSpPr>
          <p:nvPr/>
        </p:nvSpPr>
        <p:spPr>
          <a:xfrm>
            <a:off x="695325" y="1752600"/>
            <a:ext cx="4857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Turn Statistics Iceland’s open data into a chatbot that people can use in everyday language.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4991B7-C184-4590-8050-4E44C8DAED31}"/>
              </a:ext>
            </a:extLst>
          </p:cNvPr>
          <p:cNvSpPr>
            <a:spLocks noGrp="1"/>
          </p:cNvSpPr>
          <p:nvPr/>
        </p:nvSpPr>
        <p:spPr>
          <a:xfrm>
            <a:off x="695325" y="2457450"/>
            <a:ext cx="4857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Choose prepared RAG, direct PX-API or HPC-optimised RAG. Build a web interface and connect the backend.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3B3363-344B-4922-A6EA-832EFAB8071D}"/>
              </a:ext>
            </a:extLst>
          </p:cNvPr>
          <p:cNvSpPr>
            <a:spLocks noGrp="1"/>
          </p:cNvSpPr>
          <p:nvPr/>
        </p:nvSpPr>
        <p:spPr>
          <a:xfrm>
            <a:off x="695325" y="3305175"/>
            <a:ext cx="4857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Test real questions and present a working demo with clear answers, figures, units and sources.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23BDC45-F220-4245-9704-F32E20483C57}"/>
              </a:ext>
            </a:extLst>
          </p:cNvPr>
          <p:cNvSpPr>
            <a:spLocks noGrp="1"/>
          </p:cNvSpPr>
          <p:nvPr/>
        </p:nvSpPr>
        <p:spPr>
          <a:xfrm>
            <a:off x="6096000" y="1304925"/>
            <a:ext cx="2238375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246FA5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E455C2-28E1-4D1D-A6BE-F1C3B8E2971D}"/>
              </a:ext>
            </a:extLst>
          </p:cNvPr>
          <p:cNvSpPr>
            <a:spLocks noGrp="1"/>
          </p:cNvSpPr>
          <p:nvPr/>
        </p:nvSpPr>
        <p:spPr>
          <a:xfrm>
            <a:off x="6286500" y="1866900"/>
            <a:ext cx="114300" cy="85725"/>
          </a:xfrm>
          <a:prstGeom prst="rect">
            <a:avLst/>
          </a:prstGeom>
          <a:solidFill>
            <a:srgbClr val="246FA5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FC5EDE-3171-4F41-AA35-F7F1FF1D04E8}"/>
              </a:ext>
            </a:extLst>
          </p:cNvPr>
          <p:cNvSpPr>
            <a:spLocks noGrp="1"/>
          </p:cNvSpPr>
          <p:nvPr/>
        </p:nvSpPr>
        <p:spPr>
          <a:xfrm>
            <a:off x="6257925" y="1409700"/>
            <a:ext cx="1952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42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42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42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42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42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42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42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42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42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42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42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“How has Iceland’s</a:t>
            </a:r>
          </a:p>
          <a:p>
            <a:pPr>
              <a:defRPr sz="142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population changed?”</a:t>
            </a:r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218AC535-9B92-430D-BED4-F967ED4C0D41}"/>
              </a:ext>
            </a:extLst>
          </p:cNvPr>
          <p:cNvSpPr>
            <a:spLocks noGrp="1"/>
          </p:cNvSpPr>
          <p:nvPr/>
        </p:nvSpPr>
        <p:spPr>
          <a:xfrm>
            <a:off x="7077075" y="2000250"/>
            <a:ext cx="228600" cy="228600"/>
          </a:xfrm>
          <a:prstGeom prst="downArrow">
            <a:avLst/>
          </a:prstGeom>
          <a:solidFill>
            <a:srgbClr val="246FA5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E897181-3DA5-462A-AFA7-C180EF46AC43}"/>
              </a:ext>
            </a:extLst>
          </p:cNvPr>
          <p:cNvSpPr>
            <a:spLocks noGrp="1"/>
          </p:cNvSpPr>
          <p:nvPr/>
        </p:nvSpPr>
        <p:spPr>
          <a:xfrm>
            <a:off x="6000750" y="2324100"/>
            <a:ext cx="2428875" cy="685800"/>
          </a:xfrm>
          <a:prstGeom prst="roundRect">
            <a:avLst>
              <a:gd name="adj" fmla="val 11111"/>
            </a:avLst>
          </a:prstGeom>
          <a:solidFill>
            <a:srgbClr val="246FA5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CBE098-D41E-43CB-84A9-C03169A24D7B}"/>
              </a:ext>
            </a:extLst>
          </p:cNvPr>
          <p:cNvSpPr>
            <a:spLocks noGrp="1"/>
          </p:cNvSpPr>
          <p:nvPr/>
        </p:nvSpPr>
        <p:spPr>
          <a:xfrm>
            <a:off x="6219825" y="2390775"/>
            <a:ext cx="2047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CHATBOT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388B98-AD23-41D7-A56D-B6F7F72BFC1F}"/>
              </a:ext>
            </a:extLst>
          </p:cNvPr>
          <p:cNvSpPr>
            <a:spLocks noGrp="1"/>
          </p:cNvSpPr>
          <p:nvPr/>
        </p:nvSpPr>
        <p:spPr>
          <a:xfrm>
            <a:off x="6162675" y="2676525"/>
            <a:ext cx="2143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Web interface + AI backend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39F0323-4DB1-46BF-A6A0-5D959EB24DEC}"/>
              </a:ext>
            </a:extLst>
          </p:cNvPr>
          <p:cNvSpPr>
            <a:spLocks noGrp="1"/>
          </p:cNvSpPr>
          <p:nvPr/>
        </p:nvSpPr>
        <p:spPr>
          <a:xfrm>
            <a:off x="5934075" y="3171825"/>
            <a:ext cx="819150" cy="323850"/>
          </a:xfrm>
          <a:prstGeom prst="roundRect">
            <a:avLst>
              <a:gd name="adj" fmla="val 23529"/>
            </a:avLst>
          </a:prstGeom>
          <a:solidFill>
            <a:srgbClr val="168E91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C83114-92B2-402F-8992-F67064226AFE}"/>
              </a:ext>
            </a:extLst>
          </p:cNvPr>
          <p:cNvSpPr>
            <a:spLocks noGrp="1"/>
          </p:cNvSpPr>
          <p:nvPr/>
        </p:nvSpPr>
        <p:spPr>
          <a:xfrm>
            <a:off x="6000750" y="3228975"/>
            <a:ext cx="7524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 RAG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41595F3-F926-468F-BC18-F7E6FC718252}"/>
              </a:ext>
            </a:extLst>
          </p:cNvPr>
          <p:cNvSpPr>
            <a:spLocks noGrp="1"/>
          </p:cNvSpPr>
          <p:nvPr/>
        </p:nvSpPr>
        <p:spPr>
          <a:xfrm>
            <a:off x="6800850" y="3171825"/>
            <a:ext cx="819150" cy="323850"/>
          </a:xfrm>
          <a:prstGeom prst="roundRect">
            <a:avLst>
              <a:gd name="adj" fmla="val 23529"/>
            </a:avLst>
          </a:prstGeom>
          <a:solidFill>
            <a:srgbClr val="246FA5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A839CC-5A77-4BC1-B6DA-90B7340E0819}"/>
              </a:ext>
            </a:extLst>
          </p:cNvPr>
          <p:cNvSpPr>
            <a:spLocks noGrp="1"/>
          </p:cNvSpPr>
          <p:nvPr/>
        </p:nvSpPr>
        <p:spPr>
          <a:xfrm>
            <a:off x="6867525" y="3228975"/>
            <a:ext cx="7524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 PX-API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C5A7A20-ECC2-451C-8917-027A0EA444B4}"/>
              </a:ext>
            </a:extLst>
          </p:cNvPr>
          <p:cNvSpPr>
            <a:spLocks noGrp="1"/>
          </p:cNvSpPr>
          <p:nvPr/>
        </p:nvSpPr>
        <p:spPr>
          <a:xfrm>
            <a:off x="7667625" y="3171825"/>
            <a:ext cx="819150" cy="323850"/>
          </a:xfrm>
          <a:prstGeom prst="roundRect">
            <a:avLst>
              <a:gd name="adj" fmla="val 23529"/>
            </a:avLst>
          </a:prstGeom>
          <a:solidFill>
            <a:srgbClr val="7751A8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AFD45E-AD99-4914-8C25-B6F699BF5BF8}"/>
              </a:ext>
            </a:extLst>
          </p:cNvPr>
          <p:cNvSpPr>
            <a:spLocks noGrp="1"/>
          </p:cNvSpPr>
          <p:nvPr/>
        </p:nvSpPr>
        <p:spPr>
          <a:xfrm>
            <a:off x="7734300" y="3228975"/>
            <a:ext cx="7524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 HPC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0EAD319-229D-491B-B354-E347EC31C354}"/>
              </a:ext>
            </a:extLst>
          </p:cNvPr>
          <p:cNvSpPr>
            <a:spLocks noGrp="1"/>
          </p:cNvSpPr>
          <p:nvPr/>
        </p:nvSpPr>
        <p:spPr>
          <a:xfrm>
            <a:off x="6000750" y="3714750"/>
            <a:ext cx="242887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168E91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120F14A-3E00-47FF-85A0-BF28B53FD17C}"/>
              </a:ext>
            </a:extLst>
          </p:cNvPr>
          <p:cNvSpPr>
            <a:spLocks noGrp="1"/>
          </p:cNvSpPr>
          <p:nvPr/>
        </p:nvSpPr>
        <p:spPr>
          <a:xfrm>
            <a:off x="6191250" y="4238625"/>
            <a:ext cx="114300" cy="85725"/>
          </a:xfrm>
          <a:prstGeom prst="rect">
            <a:avLst/>
          </a:prstGeom>
          <a:solidFill>
            <a:srgbClr val="168E91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B1E3E4D-9AE8-4266-912A-99A96FD289DA}"/>
              </a:ext>
            </a:extLst>
          </p:cNvPr>
          <p:cNvSpPr>
            <a:spLocks noGrp="1"/>
          </p:cNvSpPr>
          <p:nvPr/>
        </p:nvSpPr>
        <p:spPr>
          <a:xfrm>
            <a:off x="6181725" y="3781425"/>
            <a:ext cx="209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00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500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68E91"/>
                </a:solidFill>
                <a:latin typeface="Calibri"/>
                <a:ea typeface="Calibri"/>
                <a:cs typeface="Calibri"/>
              </a:rPr>
              <a:t>A clear answer</a:t>
            </a:r>
          </a:p>
          <a:p>
            <a:pPr>
              <a:defRPr sz="1500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68E91"/>
                </a:solidFill>
                <a:latin typeface="Calibri"/>
                <a:ea typeface="Calibri"/>
                <a:cs typeface="Calibri"/>
              </a:rPr>
              <a:t>with official sources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8D61FC-3A79-0939-AF35-22F1619DC3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83" y="4576865"/>
            <a:ext cx="6961511" cy="56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39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>
            <a:extLst>
              <a:ext uri="{FF2B5EF4-FFF2-40B4-BE49-F238E27FC236}">
                <a16:creationId xmlns:a16="http://schemas.microsoft.com/office/drawing/2014/main" id="{D5516D1C-6B7B-4DF4-BF76-8E6113A6D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-12">
            <a:extLst>
              <a:ext uri="{FF2B5EF4-FFF2-40B4-BE49-F238E27FC236}">
                <a16:creationId xmlns:a16="http://schemas.microsoft.com/office/drawing/2014/main" id="{3A23FC38-AB3B-4B7D-9208-4201F5446EA4}"/>
              </a:ext>
            </a:extLst>
          </p:cNvPr>
          <p:cNvSpPr>
            <a:spLocks noGrp="1"/>
          </p:cNvSpPr>
          <p:nvPr/>
        </p:nvSpPr>
        <p:spPr>
          <a:xfrm>
            <a:off x="8705850" y="4880610"/>
            <a:ext cx="239325" cy="231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>
              <a:defRPr sz="1350"/>
            </a:pPr>
            <a:r>
              <a:rPr sz="1350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pic>
        <p:nvPicPr>
          <p:cNvPr id="4" name="Picture 23">
            <a:extLst>
              <a:ext uri="{FF2B5EF4-FFF2-40B4-BE49-F238E27FC236}">
                <a16:creationId xmlns:a16="http://schemas.microsoft.com/office/drawing/2014/main" id="{E47F6531-193E-A1F2-7AE8-37CD09AD8B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83" y="4576865"/>
            <a:ext cx="6961511" cy="5666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1FBA99-AB89-49A7-A788-54B9D00DB41A}"/>
              </a:ext>
            </a:extLst>
          </p:cNvPr>
          <p:cNvSpPr>
            <a:spLocks noGrp="1"/>
          </p:cNvSpPr>
          <p:nvPr/>
        </p:nvSpPr>
        <p:spPr>
          <a:xfrm>
            <a:off x="476250" y="952500"/>
            <a:ext cx="8334375" cy="35528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1B63FC-7079-4232-A715-89DEE0E14D8B}"/>
              </a:ext>
            </a:extLst>
          </p:cNvPr>
          <p:cNvSpPr>
            <a:spLocks noGrp="1"/>
          </p:cNvSpPr>
          <p:nvPr/>
        </p:nvSpPr>
        <p:spPr>
          <a:xfrm>
            <a:off x="695325" y="400050"/>
            <a:ext cx="7858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Today’s programme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54E278-70C0-4495-A021-6B906447D704}"/>
              </a:ext>
            </a:extLst>
          </p:cNvPr>
          <p:cNvSpPr>
            <a:spLocks noGrp="1"/>
          </p:cNvSpPr>
          <p:nvPr/>
        </p:nvSpPr>
        <p:spPr>
          <a:xfrm>
            <a:off x="695325" y="1343025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1  The challenge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DDE90B-21F3-404B-B219-EEEDF4D4B7FE}"/>
              </a:ext>
            </a:extLst>
          </p:cNvPr>
          <p:cNvSpPr>
            <a:spLocks noGrp="1"/>
          </p:cNvSpPr>
          <p:nvPr/>
        </p:nvSpPr>
        <p:spPr>
          <a:xfrm>
            <a:off x="2867025" y="1343025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The user experience and three project tracks.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860094-CC02-4F52-8B7C-6FEA576831B1}"/>
              </a:ext>
            </a:extLst>
          </p:cNvPr>
          <p:cNvSpPr>
            <a:spLocks noGrp="1"/>
          </p:cNvSpPr>
          <p:nvPr/>
        </p:nvSpPr>
        <p:spPr>
          <a:xfrm>
            <a:off x="695325" y="2095500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2  Getting started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EB6116-016E-45C2-AD9B-437C6AE82947}"/>
              </a:ext>
            </a:extLst>
          </p:cNvPr>
          <p:cNvSpPr>
            <a:spLocks noGrp="1"/>
          </p:cNvSpPr>
          <p:nvPr/>
        </p:nvSpPr>
        <p:spPr>
          <a:xfrm>
            <a:off x="2867025" y="2095500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Code, data, README instructions and computing resources.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079126-EEC1-4FE7-AA24-BFDDAA05AD1E}"/>
              </a:ext>
            </a:extLst>
          </p:cNvPr>
          <p:cNvSpPr>
            <a:spLocks noGrp="1"/>
          </p:cNvSpPr>
          <p:nvPr/>
        </p:nvSpPr>
        <p:spPr>
          <a:xfrm>
            <a:off x="695325" y="2847975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3  Your demo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F608CE-E846-484C-B215-E10B62B833F0}"/>
              </a:ext>
            </a:extLst>
          </p:cNvPr>
          <p:cNvSpPr>
            <a:spLocks noGrp="1"/>
          </p:cNvSpPr>
          <p:nvPr/>
        </p:nvSpPr>
        <p:spPr>
          <a:xfrm>
            <a:off x="2867025" y="2847975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Shared deliverables, testing and draft judging criteria.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1E5C37-61BE-44C8-8E36-9B7D0D57E07D}"/>
              </a:ext>
            </a:extLst>
          </p:cNvPr>
          <p:cNvSpPr>
            <a:spLocks noGrp="1"/>
          </p:cNvSpPr>
          <p:nvPr/>
        </p:nvSpPr>
        <p:spPr>
          <a:xfrm>
            <a:off x="695325" y="3600450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4  Practical details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BC72F6-B91A-4676-8555-556718EF684D}"/>
              </a:ext>
            </a:extLst>
          </p:cNvPr>
          <p:cNvSpPr>
            <a:spLocks noGrp="1"/>
          </p:cNvSpPr>
          <p:nvPr/>
        </p:nvSpPr>
        <p:spPr>
          <a:xfrm>
            <a:off x="2867025" y="3600450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Schedule, support, Gagnvist and questions.</a:t>
            </a:r>
          </a:p>
        </p:txBody>
      </p:sp>
    </p:spTree>
    <p:extLst>
      <p:ext uri="{BB962C8B-B14F-4D97-AF65-F5344CB8AC3E}">
        <p14:creationId xmlns:p14="http://schemas.microsoft.com/office/powerpoint/2010/main" val="1079498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>
            <a:extLst>
              <a:ext uri="{FF2B5EF4-FFF2-40B4-BE49-F238E27FC236}">
                <a16:creationId xmlns:a16="http://schemas.microsoft.com/office/drawing/2014/main" id="{A04B4AD4-579E-4A87-A821-11BF29A93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ext-2">
            <a:extLst>
              <a:ext uri="{FF2B5EF4-FFF2-40B4-BE49-F238E27FC236}">
                <a16:creationId xmlns:a16="http://schemas.microsoft.com/office/drawing/2014/main" id="{5FEF2B54-37A0-4670-A2CA-3AB55B7754A2}"/>
              </a:ext>
            </a:extLst>
          </p:cNvPr>
          <p:cNvSpPr>
            <a:spLocks noGrp="1"/>
          </p:cNvSpPr>
          <p:nvPr/>
        </p:nvSpPr>
        <p:spPr>
          <a:xfrm>
            <a:off x="8705850" y="4880610"/>
            <a:ext cx="239325" cy="231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>
              <a:defRPr sz="1350"/>
            </a:pPr>
            <a:r>
              <a:rPr sz="1350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74E3D-A858-4A79-AAB2-2818E143AA7A}"/>
              </a:ext>
            </a:extLst>
          </p:cNvPr>
          <p:cNvSpPr>
            <a:spLocks noGrp="1"/>
          </p:cNvSpPr>
          <p:nvPr/>
        </p:nvSpPr>
        <p:spPr>
          <a:xfrm>
            <a:off x="695325" y="409575"/>
            <a:ext cx="7858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270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270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270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270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270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270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270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270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270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70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From a question to trusted statistics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247ADF-EC13-48E8-B723-1B54A9C70C5F}"/>
              </a:ext>
            </a:extLst>
          </p:cNvPr>
          <p:cNvSpPr>
            <a:spLocks noGrp="1"/>
          </p:cNvSpPr>
          <p:nvPr/>
        </p:nvSpPr>
        <p:spPr>
          <a:xfrm>
            <a:off x="695325" y="1019175"/>
            <a:ext cx="7858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0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defPPr>
            <a:lvl1pPr>
              <a:defRPr sz="180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1pPr>
            <a:lvl2pPr>
              <a:defRPr sz="180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2pPr>
            <a:lvl3pPr>
              <a:defRPr sz="180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3pPr>
            <a:lvl4pPr>
              <a:defRPr sz="180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4pPr>
            <a:lvl5pPr>
              <a:defRPr sz="180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5pPr>
            <a:lvl6pPr>
              <a:defRPr sz="180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6pPr>
            <a:lvl7pPr>
              <a:defRPr sz="180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7pPr>
            <a:lvl8pPr>
              <a:defRPr sz="180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8pPr>
            <a:lvl9pPr>
              <a:defRPr sz="180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0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One chatbot experience. Three ways to find the data.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F068B99-02F7-4E8B-9048-238BE7D32080}"/>
              </a:ext>
            </a:extLst>
          </p:cNvPr>
          <p:cNvSpPr>
            <a:spLocks noGrp="1"/>
          </p:cNvSpPr>
          <p:nvPr/>
        </p:nvSpPr>
        <p:spPr>
          <a:xfrm>
            <a:off x="695325" y="1457325"/>
            <a:ext cx="1162050" cy="266700"/>
          </a:xfrm>
          <a:prstGeom prst="roundRect">
            <a:avLst>
              <a:gd name="adj" fmla="val 28571"/>
            </a:avLst>
          </a:prstGeom>
          <a:solidFill>
            <a:srgbClr val="EDF5FA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BB70E3-699B-4F03-B4D9-34E1608F896F}"/>
              </a:ext>
            </a:extLst>
          </p:cNvPr>
          <p:cNvSpPr>
            <a:spLocks noGrp="1"/>
          </p:cNvSpPr>
          <p:nvPr/>
        </p:nvSpPr>
        <p:spPr>
          <a:xfrm>
            <a:off x="790575" y="15049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Population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FB89C6C-AC8E-43F6-90A5-5273BFB12553}"/>
              </a:ext>
            </a:extLst>
          </p:cNvPr>
          <p:cNvSpPr>
            <a:spLocks noGrp="1"/>
          </p:cNvSpPr>
          <p:nvPr/>
        </p:nvSpPr>
        <p:spPr>
          <a:xfrm>
            <a:off x="1981200" y="1457325"/>
            <a:ext cx="1162050" cy="266700"/>
          </a:xfrm>
          <a:prstGeom prst="roundRect">
            <a:avLst>
              <a:gd name="adj" fmla="val 28571"/>
            </a:avLst>
          </a:prstGeom>
          <a:solidFill>
            <a:srgbClr val="EDF5FA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93C3E8-A551-4CFD-AEF5-E0EF20C2C2B5}"/>
              </a:ext>
            </a:extLst>
          </p:cNvPr>
          <p:cNvSpPr>
            <a:spLocks noGrp="1"/>
          </p:cNvSpPr>
          <p:nvPr/>
        </p:nvSpPr>
        <p:spPr>
          <a:xfrm>
            <a:off x="2076450" y="15049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Prices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D052B70-DBA2-48F4-97A6-4F9CFD644C0A}"/>
              </a:ext>
            </a:extLst>
          </p:cNvPr>
          <p:cNvSpPr>
            <a:spLocks noGrp="1"/>
          </p:cNvSpPr>
          <p:nvPr/>
        </p:nvSpPr>
        <p:spPr>
          <a:xfrm>
            <a:off x="3267075" y="1457325"/>
            <a:ext cx="1162050" cy="266700"/>
          </a:xfrm>
          <a:prstGeom prst="roundRect">
            <a:avLst>
              <a:gd name="adj" fmla="val 28571"/>
            </a:avLst>
          </a:prstGeom>
          <a:solidFill>
            <a:srgbClr val="EDF5FA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9CB526-691D-4F57-B0D4-C0F04C594829}"/>
              </a:ext>
            </a:extLst>
          </p:cNvPr>
          <p:cNvSpPr>
            <a:spLocks noGrp="1"/>
          </p:cNvSpPr>
          <p:nvPr/>
        </p:nvSpPr>
        <p:spPr>
          <a:xfrm>
            <a:off x="3362325" y="15049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75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Migration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E71D689-3C50-4BE2-B450-538E7F821975}"/>
              </a:ext>
            </a:extLst>
          </p:cNvPr>
          <p:cNvSpPr>
            <a:spLocks noGrp="1"/>
          </p:cNvSpPr>
          <p:nvPr/>
        </p:nvSpPr>
        <p:spPr>
          <a:xfrm>
            <a:off x="828675" y="2114550"/>
            <a:ext cx="352425" cy="352425"/>
          </a:xfrm>
          <a:prstGeom prst="ellipse">
            <a:avLst/>
          </a:prstGeom>
          <a:solidFill>
            <a:srgbClr val="246FA5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81DA108-FD47-4E48-97B6-8DB2B3E2ADAD}"/>
              </a:ext>
            </a:extLst>
          </p:cNvPr>
          <p:cNvSpPr>
            <a:spLocks noGrp="1"/>
          </p:cNvSpPr>
          <p:nvPr/>
        </p:nvSpPr>
        <p:spPr>
          <a:xfrm>
            <a:off x="704850" y="2514600"/>
            <a:ext cx="619125" cy="457200"/>
          </a:xfrm>
          <a:prstGeom prst="roundRect">
            <a:avLst>
              <a:gd name="adj" fmla="val 16667"/>
            </a:avLst>
          </a:prstGeom>
          <a:solidFill>
            <a:srgbClr val="246FA5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9603AE-D588-4162-B8E7-5925DB7EE38B}"/>
              </a:ext>
            </a:extLst>
          </p:cNvPr>
          <p:cNvSpPr>
            <a:spLocks noGrp="1"/>
          </p:cNvSpPr>
          <p:nvPr/>
        </p:nvSpPr>
        <p:spPr>
          <a:xfrm>
            <a:off x="619125" y="3133725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You ask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B9665D-682B-443C-8C0F-B73375F5B6A2}"/>
              </a:ext>
            </a:extLst>
          </p:cNvPr>
          <p:cNvSpPr>
            <a:spLocks noGrp="1"/>
          </p:cNvSpPr>
          <p:nvPr/>
        </p:nvSpPr>
        <p:spPr>
          <a:xfrm>
            <a:off x="476250" y="3457575"/>
            <a:ext cx="13811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A question in</a:t>
            </a:r>
          </a:p>
          <a:p>
            <a:pPr>
              <a:defRPr sz="135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everyday language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88F47F-865E-4749-A358-E756B302B749}"/>
              </a:ext>
            </a:extLst>
          </p:cNvPr>
          <p:cNvSpPr>
            <a:spLocks noGrp="1"/>
          </p:cNvSpPr>
          <p:nvPr/>
        </p:nvSpPr>
        <p:spPr>
          <a:xfrm>
            <a:off x="1438275" y="2647950"/>
            <a:ext cx="342900" cy="28575"/>
          </a:xfrm>
          <a:prstGeom prst="rect">
            <a:avLst/>
          </a:prstGeom>
          <a:solidFill>
            <a:srgbClr val="246FA5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23" name="Chevron 22">
            <a:extLst>
              <a:ext uri="{FF2B5EF4-FFF2-40B4-BE49-F238E27FC236}">
                <a16:creationId xmlns:a16="http://schemas.microsoft.com/office/drawing/2014/main" id="{D62496D5-2498-4BE4-9EF7-4024784FBADC}"/>
              </a:ext>
            </a:extLst>
          </p:cNvPr>
          <p:cNvSpPr>
            <a:spLocks noGrp="1"/>
          </p:cNvSpPr>
          <p:nvPr/>
        </p:nvSpPr>
        <p:spPr>
          <a:xfrm>
            <a:off x="1752600" y="2600325"/>
            <a:ext cx="104775" cy="123825"/>
          </a:xfrm>
          <a:prstGeom prst="chevron">
            <a:avLst/>
          </a:prstGeom>
          <a:solidFill>
            <a:srgbClr val="246FA5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B205704-BD53-442A-B4F6-BF091720B8C5}"/>
              </a:ext>
            </a:extLst>
          </p:cNvPr>
          <p:cNvSpPr>
            <a:spLocks noGrp="1"/>
          </p:cNvSpPr>
          <p:nvPr/>
        </p:nvSpPr>
        <p:spPr>
          <a:xfrm>
            <a:off x="1971675" y="2124075"/>
            <a:ext cx="1838325" cy="1019175"/>
          </a:xfrm>
          <a:prstGeom prst="roundRect">
            <a:avLst>
              <a:gd name="adj" fmla="val 7477"/>
            </a:avLst>
          </a:prstGeom>
          <a:solidFill>
            <a:srgbClr val="246FA5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270C396-A363-4320-855E-3F1B62D9108D}"/>
              </a:ext>
            </a:extLst>
          </p:cNvPr>
          <p:cNvSpPr>
            <a:spLocks noGrp="1"/>
          </p:cNvSpPr>
          <p:nvPr/>
        </p:nvSpPr>
        <p:spPr>
          <a:xfrm>
            <a:off x="2057400" y="2209800"/>
            <a:ext cx="1666875" cy="790575"/>
          </a:xfrm>
          <a:prstGeom prst="roundRect">
            <a:avLst>
              <a:gd name="adj" fmla="val 9639"/>
            </a:avLst>
          </a:prstGeom>
          <a:solidFill>
            <a:srgbClr val="F0F7FB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708E0E4-05F9-4338-85CC-F574F82E4B3D}"/>
              </a:ext>
            </a:extLst>
          </p:cNvPr>
          <p:cNvSpPr>
            <a:spLocks noGrp="1"/>
          </p:cNvSpPr>
          <p:nvPr/>
        </p:nvSpPr>
        <p:spPr>
          <a:xfrm>
            <a:off x="2209800" y="2343150"/>
            <a:ext cx="1323975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68E91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C048E9-43F3-4AD0-BE03-AAD039EFC4DA}"/>
              </a:ext>
            </a:extLst>
          </p:cNvPr>
          <p:cNvSpPr>
            <a:spLocks noGrp="1"/>
          </p:cNvSpPr>
          <p:nvPr/>
        </p:nvSpPr>
        <p:spPr>
          <a:xfrm>
            <a:off x="2400300" y="2771775"/>
            <a:ext cx="114300" cy="85725"/>
          </a:xfrm>
          <a:prstGeom prst="rect">
            <a:avLst/>
          </a:prstGeom>
          <a:solidFill>
            <a:srgbClr val="168E91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9BADC7-EF25-41CA-BE76-80FC63BDF3F0}"/>
              </a:ext>
            </a:extLst>
          </p:cNvPr>
          <p:cNvSpPr>
            <a:spLocks noGrp="1"/>
          </p:cNvSpPr>
          <p:nvPr/>
        </p:nvSpPr>
        <p:spPr>
          <a:xfrm>
            <a:off x="2324100" y="2400300"/>
            <a:ext cx="11715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27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27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27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27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27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27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27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27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27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7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Ask about</a:t>
            </a:r>
          </a:p>
          <a:p>
            <a:pPr>
              <a:defRPr sz="1275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Iceland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95A84D8-368D-4AB2-8C61-959C4AA0295F}"/>
              </a:ext>
            </a:extLst>
          </p:cNvPr>
          <p:cNvSpPr>
            <a:spLocks noGrp="1"/>
          </p:cNvSpPr>
          <p:nvPr/>
        </p:nvSpPr>
        <p:spPr>
          <a:xfrm>
            <a:off x="2790825" y="3143250"/>
            <a:ext cx="190500" cy="123825"/>
          </a:xfrm>
          <a:prstGeom prst="rect">
            <a:avLst/>
          </a:prstGeom>
          <a:solidFill>
            <a:srgbClr val="246FA5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207E43A-2291-4F93-A0BD-4CE1645D3B5B}"/>
              </a:ext>
            </a:extLst>
          </p:cNvPr>
          <p:cNvSpPr>
            <a:spLocks noGrp="1"/>
          </p:cNvSpPr>
          <p:nvPr/>
        </p:nvSpPr>
        <p:spPr>
          <a:xfrm>
            <a:off x="2495550" y="3267075"/>
            <a:ext cx="781050" cy="47625"/>
          </a:xfrm>
          <a:prstGeom prst="rect">
            <a:avLst/>
          </a:prstGeom>
          <a:solidFill>
            <a:srgbClr val="246FA5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A4C7BAE-50EE-4159-870F-508C35757A63}"/>
              </a:ext>
            </a:extLst>
          </p:cNvPr>
          <p:cNvSpPr>
            <a:spLocks noGrp="1"/>
          </p:cNvSpPr>
          <p:nvPr/>
        </p:nvSpPr>
        <p:spPr>
          <a:xfrm>
            <a:off x="1981200" y="345757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Your web chatbot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E62735-4BCF-4F28-B0E8-AE43DAE877AB}"/>
              </a:ext>
            </a:extLst>
          </p:cNvPr>
          <p:cNvSpPr>
            <a:spLocks noGrp="1"/>
          </p:cNvSpPr>
          <p:nvPr/>
        </p:nvSpPr>
        <p:spPr>
          <a:xfrm>
            <a:off x="3886200" y="2647950"/>
            <a:ext cx="238125" cy="28575"/>
          </a:xfrm>
          <a:prstGeom prst="rect">
            <a:avLst/>
          </a:prstGeom>
          <a:solidFill>
            <a:srgbClr val="246FA5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33" name="Chevron 32">
            <a:extLst>
              <a:ext uri="{FF2B5EF4-FFF2-40B4-BE49-F238E27FC236}">
                <a16:creationId xmlns:a16="http://schemas.microsoft.com/office/drawing/2014/main" id="{F473D422-6979-473E-892C-D342CDD0F6EC}"/>
              </a:ext>
            </a:extLst>
          </p:cNvPr>
          <p:cNvSpPr>
            <a:spLocks noGrp="1"/>
          </p:cNvSpPr>
          <p:nvPr/>
        </p:nvSpPr>
        <p:spPr>
          <a:xfrm>
            <a:off x="4095750" y="2600325"/>
            <a:ext cx="104775" cy="123825"/>
          </a:xfrm>
          <a:prstGeom prst="chevron">
            <a:avLst/>
          </a:prstGeom>
          <a:solidFill>
            <a:srgbClr val="246FA5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1AC8F3F-C45D-4D5C-98D4-ABD2F633F7F3}"/>
              </a:ext>
            </a:extLst>
          </p:cNvPr>
          <p:cNvSpPr>
            <a:spLocks noGrp="1"/>
          </p:cNvSpPr>
          <p:nvPr/>
        </p:nvSpPr>
        <p:spPr>
          <a:xfrm>
            <a:off x="4191000" y="1952625"/>
            <a:ext cx="19050" cy="1438275"/>
          </a:xfrm>
          <a:prstGeom prst="rect">
            <a:avLst/>
          </a:prstGeom>
          <a:solidFill>
            <a:srgbClr val="246FA5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5DDAF6-F732-4F2C-BB29-06343DCF99BD}"/>
              </a:ext>
            </a:extLst>
          </p:cNvPr>
          <p:cNvSpPr>
            <a:spLocks noGrp="1"/>
          </p:cNvSpPr>
          <p:nvPr/>
        </p:nvSpPr>
        <p:spPr>
          <a:xfrm>
            <a:off x="4191000" y="1971675"/>
            <a:ext cx="161925" cy="19050"/>
          </a:xfrm>
          <a:prstGeom prst="rect">
            <a:avLst/>
          </a:prstGeom>
          <a:solidFill>
            <a:srgbClr val="168E91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6BD46B2-953D-4C7F-A8BD-8199E629A796}"/>
              </a:ext>
            </a:extLst>
          </p:cNvPr>
          <p:cNvSpPr>
            <a:spLocks noGrp="1"/>
          </p:cNvSpPr>
          <p:nvPr/>
        </p:nvSpPr>
        <p:spPr>
          <a:xfrm>
            <a:off x="4381500" y="1762125"/>
            <a:ext cx="2276475" cy="542925"/>
          </a:xfrm>
          <a:prstGeom prst="roundRect">
            <a:avLst>
              <a:gd name="adj" fmla="val 14035"/>
            </a:avLst>
          </a:prstGeom>
          <a:solidFill>
            <a:srgbClr val="168E91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2AB2BA7-4746-44AA-BBA6-41EBC82C5D25}"/>
              </a:ext>
            </a:extLst>
          </p:cNvPr>
          <p:cNvSpPr>
            <a:spLocks noGrp="1"/>
          </p:cNvSpPr>
          <p:nvPr/>
        </p:nvSpPr>
        <p:spPr>
          <a:xfrm>
            <a:off x="4476750" y="1828800"/>
            <a:ext cx="2114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 Prepared RAG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5BCDBDC-F403-453E-90EE-AEE6E58C4B30}"/>
              </a:ext>
            </a:extLst>
          </p:cNvPr>
          <p:cNvSpPr>
            <a:spLocks noGrp="1"/>
          </p:cNvSpPr>
          <p:nvPr/>
        </p:nvSpPr>
        <p:spPr>
          <a:xfrm>
            <a:off x="4476750" y="206692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Search prepared data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D35D30D-0431-49D4-B7A6-40EEDE31222B}"/>
              </a:ext>
            </a:extLst>
          </p:cNvPr>
          <p:cNvSpPr>
            <a:spLocks noGrp="1"/>
          </p:cNvSpPr>
          <p:nvPr/>
        </p:nvSpPr>
        <p:spPr>
          <a:xfrm>
            <a:off x="6677025" y="1971675"/>
            <a:ext cx="161925" cy="19050"/>
          </a:xfrm>
          <a:prstGeom prst="rect">
            <a:avLst/>
          </a:prstGeom>
          <a:solidFill>
            <a:srgbClr val="168E91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ED42669-06D9-43CF-9BCE-F10C92ECB6CC}"/>
              </a:ext>
            </a:extLst>
          </p:cNvPr>
          <p:cNvSpPr>
            <a:spLocks noGrp="1"/>
          </p:cNvSpPr>
          <p:nvPr/>
        </p:nvSpPr>
        <p:spPr>
          <a:xfrm>
            <a:off x="4191000" y="2676525"/>
            <a:ext cx="161925" cy="19050"/>
          </a:xfrm>
          <a:prstGeom prst="rect">
            <a:avLst/>
          </a:prstGeom>
          <a:solidFill>
            <a:srgbClr val="246FA5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91935BB9-E14D-4FC0-9F18-5C9AAD7AA914}"/>
              </a:ext>
            </a:extLst>
          </p:cNvPr>
          <p:cNvSpPr>
            <a:spLocks noGrp="1"/>
          </p:cNvSpPr>
          <p:nvPr/>
        </p:nvSpPr>
        <p:spPr>
          <a:xfrm>
            <a:off x="4381500" y="2466975"/>
            <a:ext cx="2276475" cy="542925"/>
          </a:xfrm>
          <a:prstGeom prst="roundRect">
            <a:avLst>
              <a:gd name="adj" fmla="val 14035"/>
            </a:avLst>
          </a:prstGeom>
          <a:solidFill>
            <a:srgbClr val="246FA5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932AFE6-9A6D-429F-95A3-1A6373F7B463}"/>
              </a:ext>
            </a:extLst>
          </p:cNvPr>
          <p:cNvSpPr>
            <a:spLocks noGrp="1"/>
          </p:cNvSpPr>
          <p:nvPr/>
        </p:nvSpPr>
        <p:spPr>
          <a:xfrm>
            <a:off x="4476750" y="2533650"/>
            <a:ext cx="2114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 Direct PX-API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B6AD0B5-6338-4B23-AD60-9A3E34A052EB}"/>
              </a:ext>
            </a:extLst>
          </p:cNvPr>
          <p:cNvSpPr>
            <a:spLocks noGrp="1"/>
          </p:cNvSpPr>
          <p:nvPr/>
        </p:nvSpPr>
        <p:spPr>
          <a:xfrm>
            <a:off x="4476750" y="277177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Query official statistics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84B4D5B-4E96-4A2F-8081-B0E3048E5B08}"/>
              </a:ext>
            </a:extLst>
          </p:cNvPr>
          <p:cNvSpPr>
            <a:spLocks noGrp="1"/>
          </p:cNvSpPr>
          <p:nvPr/>
        </p:nvSpPr>
        <p:spPr>
          <a:xfrm>
            <a:off x="6677025" y="2676525"/>
            <a:ext cx="161925" cy="19050"/>
          </a:xfrm>
          <a:prstGeom prst="rect">
            <a:avLst/>
          </a:prstGeom>
          <a:solidFill>
            <a:srgbClr val="246FA5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C3A91F0-C08F-4151-8A5A-3599CD7045A5}"/>
              </a:ext>
            </a:extLst>
          </p:cNvPr>
          <p:cNvSpPr>
            <a:spLocks noGrp="1"/>
          </p:cNvSpPr>
          <p:nvPr/>
        </p:nvSpPr>
        <p:spPr>
          <a:xfrm>
            <a:off x="4191000" y="3381375"/>
            <a:ext cx="161925" cy="19050"/>
          </a:xfrm>
          <a:prstGeom prst="rect">
            <a:avLst/>
          </a:prstGeom>
          <a:solidFill>
            <a:srgbClr val="7751A8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450C5C5A-BD72-41BC-95AE-5D915736CEA0}"/>
              </a:ext>
            </a:extLst>
          </p:cNvPr>
          <p:cNvSpPr>
            <a:spLocks noGrp="1"/>
          </p:cNvSpPr>
          <p:nvPr/>
        </p:nvSpPr>
        <p:spPr>
          <a:xfrm>
            <a:off x="4381500" y="3171825"/>
            <a:ext cx="2276475" cy="542925"/>
          </a:xfrm>
          <a:prstGeom prst="roundRect">
            <a:avLst>
              <a:gd name="adj" fmla="val 14035"/>
            </a:avLst>
          </a:prstGeom>
          <a:solidFill>
            <a:srgbClr val="7751A8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4151433-D9AD-4121-8A9C-5F0B1C65CB5C}"/>
              </a:ext>
            </a:extLst>
          </p:cNvPr>
          <p:cNvSpPr>
            <a:spLocks noGrp="1"/>
          </p:cNvSpPr>
          <p:nvPr/>
        </p:nvSpPr>
        <p:spPr>
          <a:xfrm>
            <a:off x="4476750" y="3238500"/>
            <a:ext cx="2114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 RAG on HPC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EAA8D04-26D2-4B4E-9755-DAECCF80060D}"/>
              </a:ext>
            </a:extLst>
          </p:cNvPr>
          <p:cNvSpPr>
            <a:spLocks noGrp="1"/>
          </p:cNvSpPr>
          <p:nvPr/>
        </p:nvSpPr>
        <p:spPr>
          <a:xfrm>
            <a:off x="4476750" y="347662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Optimise data search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869DF0A-6679-4794-ADE1-6A5E8AD4F2B3}"/>
              </a:ext>
            </a:extLst>
          </p:cNvPr>
          <p:cNvSpPr>
            <a:spLocks noGrp="1"/>
          </p:cNvSpPr>
          <p:nvPr/>
        </p:nvSpPr>
        <p:spPr>
          <a:xfrm>
            <a:off x="6677025" y="3381375"/>
            <a:ext cx="161925" cy="19050"/>
          </a:xfrm>
          <a:prstGeom prst="rect">
            <a:avLst/>
          </a:prstGeom>
          <a:solidFill>
            <a:srgbClr val="7751A8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0FC0450-7B8B-4A9A-9BC7-685EE4F79E89}"/>
              </a:ext>
            </a:extLst>
          </p:cNvPr>
          <p:cNvSpPr>
            <a:spLocks noGrp="1"/>
          </p:cNvSpPr>
          <p:nvPr/>
        </p:nvSpPr>
        <p:spPr>
          <a:xfrm>
            <a:off x="6838950" y="1971675"/>
            <a:ext cx="19050" cy="1428750"/>
          </a:xfrm>
          <a:prstGeom prst="rect">
            <a:avLst/>
          </a:prstGeom>
          <a:solidFill>
            <a:srgbClr val="246FA5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F392D5E-4D6A-43D8-B388-7E8305E5448C}"/>
              </a:ext>
            </a:extLst>
          </p:cNvPr>
          <p:cNvSpPr>
            <a:spLocks noGrp="1"/>
          </p:cNvSpPr>
          <p:nvPr/>
        </p:nvSpPr>
        <p:spPr>
          <a:xfrm>
            <a:off x="6848475" y="2647950"/>
            <a:ext cx="171450" cy="28575"/>
          </a:xfrm>
          <a:prstGeom prst="rect">
            <a:avLst/>
          </a:prstGeom>
          <a:solidFill>
            <a:srgbClr val="246FA5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52" name="Chevron 51">
            <a:extLst>
              <a:ext uri="{FF2B5EF4-FFF2-40B4-BE49-F238E27FC236}">
                <a16:creationId xmlns:a16="http://schemas.microsoft.com/office/drawing/2014/main" id="{402743D5-3FC4-4B97-AEE8-44529922AEDE}"/>
              </a:ext>
            </a:extLst>
          </p:cNvPr>
          <p:cNvSpPr>
            <a:spLocks noGrp="1"/>
          </p:cNvSpPr>
          <p:nvPr/>
        </p:nvSpPr>
        <p:spPr>
          <a:xfrm>
            <a:off x="6991350" y="2600325"/>
            <a:ext cx="104775" cy="123825"/>
          </a:xfrm>
          <a:prstGeom prst="chevron">
            <a:avLst/>
          </a:prstGeom>
          <a:solidFill>
            <a:srgbClr val="246FA5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BC7837E4-36BA-4943-BCDC-F803D89002E3}"/>
              </a:ext>
            </a:extLst>
          </p:cNvPr>
          <p:cNvSpPr>
            <a:spLocks noGrp="1"/>
          </p:cNvSpPr>
          <p:nvPr/>
        </p:nvSpPr>
        <p:spPr>
          <a:xfrm>
            <a:off x="7191375" y="2085975"/>
            <a:ext cx="1409700" cy="1190625"/>
          </a:xfrm>
          <a:prstGeom prst="roundRect">
            <a:avLst>
              <a:gd name="adj" fmla="val 6400"/>
            </a:avLst>
          </a:prstGeom>
          <a:solidFill>
            <a:srgbClr val="EFF8F5"/>
          </a:solidFill>
          <a:ln w="9525">
            <a:solidFill>
              <a:srgbClr val="168E91"/>
            </a:solidFill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C40ADAA-53E4-44F0-9015-F269CA109B24}"/>
              </a:ext>
            </a:extLst>
          </p:cNvPr>
          <p:cNvSpPr>
            <a:spLocks noGrp="1"/>
          </p:cNvSpPr>
          <p:nvPr/>
        </p:nvSpPr>
        <p:spPr>
          <a:xfrm>
            <a:off x="7324725" y="2200275"/>
            <a:ext cx="1181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68E91"/>
                </a:solidFill>
                <a:latin typeface="Calibri"/>
                <a:ea typeface="Calibri"/>
                <a:cs typeface="Calibri"/>
              </a:rPr>
              <a:t>AI explains</a:t>
            </a:r>
          </a:p>
          <a:p>
            <a: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68E91"/>
                </a:solidFill>
                <a:latin typeface="Calibri"/>
                <a:ea typeface="Calibri"/>
                <a:cs typeface="Calibri"/>
              </a:rPr>
              <a:t>the results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4F786C6-7192-415D-B946-940DEABC9FB1}"/>
              </a:ext>
            </a:extLst>
          </p:cNvPr>
          <p:cNvSpPr>
            <a:spLocks noGrp="1"/>
          </p:cNvSpPr>
          <p:nvPr/>
        </p:nvSpPr>
        <p:spPr>
          <a:xfrm>
            <a:off x="7324725" y="2781300"/>
            <a:ext cx="12001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Figures • Units</a:t>
            </a:r>
          </a:p>
          <a:p>
            <a:pPr>
              <a:defRPr sz="13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Official source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F4C9C89-A8D2-40E0-93EB-2913586927D7}"/>
              </a:ext>
            </a:extLst>
          </p:cNvPr>
          <p:cNvSpPr>
            <a:spLocks noGrp="1"/>
          </p:cNvSpPr>
          <p:nvPr/>
        </p:nvSpPr>
        <p:spPr>
          <a:xfrm>
            <a:off x="7105650" y="3457575"/>
            <a:ext cx="16668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defPPr>
            <a:lvl1pPr>
              <a:defRPr sz="1650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1pPr>
            <a:lvl2pPr>
              <a:defRPr sz="1650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2pPr>
            <a:lvl3pPr>
              <a:defRPr sz="1650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3pPr>
            <a:lvl4pPr>
              <a:defRPr sz="1650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4pPr>
            <a:lvl5pPr>
              <a:defRPr sz="1650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5pPr>
            <a:lvl6pPr>
              <a:defRPr sz="1650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6pPr>
            <a:lvl7pPr>
              <a:defRPr sz="1650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7pPr>
            <a:lvl8pPr>
              <a:defRPr sz="1650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8pPr>
            <a:lvl9pPr>
              <a:defRPr sz="1650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68E91"/>
                </a:solidFill>
                <a:latin typeface="Calibri"/>
                <a:ea typeface="Calibri"/>
                <a:cs typeface="Calibri"/>
              </a:rPr>
              <a:t>You understand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0C07C0C-EA9B-4193-89CE-0205C558CC0A}"/>
              </a:ext>
            </a:extLst>
          </p:cNvPr>
          <p:cNvSpPr>
            <a:spLocks noGrp="1"/>
          </p:cNvSpPr>
          <p:nvPr/>
        </p:nvSpPr>
        <p:spPr>
          <a:xfrm>
            <a:off x="695325" y="4162425"/>
            <a:ext cx="790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0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defPPr>
            <a:lvl1pPr>
              <a:defRPr sz="150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1pPr>
            <a:lvl2pPr>
              <a:defRPr sz="150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2pPr>
            <a:lvl3pPr>
              <a:defRPr sz="150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3pPr>
            <a:lvl4pPr>
              <a:defRPr sz="150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4pPr>
            <a:lvl5pPr>
              <a:defRPr sz="150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5pPr>
            <a:lvl6pPr>
              <a:defRPr sz="150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6pPr>
            <a:lvl7pPr>
              <a:defRPr sz="150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7pPr>
            <a:lvl8pPr>
              <a:defRPr sz="150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8pPr>
            <a:lvl9pPr>
              <a:defRPr sz="150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50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Built on Statistics Iceland’s open data • Every track delivers a working prototype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67DCD4EB-FDC0-8A63-612E-7F0D6A3139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83" y="4576865"/>
            <a:ext cx="6961511" cy="56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766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3">
            <a:extLst>
              <a:ext uri="{FF2B5EF4-FFF2-40B4-BE49-F238E27FC236}">
                <a16:creationId xmlns:a16="http://schemas.microsoft.com/office/drawing/2014/main" id="{524B0CAB-42CA-470C-9CD2-EBF4FFA4C436}"/>
              </a:ext>
            </a:extLst>
          </p:cNvPr>
          <p:cNvSpPr>
            <a:spLocks noGrp="1"/>
          </p:cNvSpPr>
          <p:nvPr/>
        </p:nvSpPr>
        <p:spPr>
          <a:xfrm>
            <a:off x="8705850" y="4880610"/>
            <a:ext cx="239325" cy="231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>
              <a:defRPr sz="1350"/>
            </a:pPr>
            <a:r>
              <a:rPr sz="1350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E21272-D226-4FD2-BEB4-DDB1B18856DE}"/>
              </a:ext>
            </a:extLst>
          </p:cNvPr>
          <p:cNvSpPr>
            <a:spLocks noGrp="1"/>
          </p:cNvSpPr>
          <p:nvPr/>
        </p:nvSpPr>
        <p:spPr>
          <a:xfrm>
            <a:off x="394636" y="952500"/>
            <a:ext cx="8415989" cy="37909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9CB1D9-700E-4278-8839-415FB87DA0DF}"/>
              </a:ext>
            </a:extLst>
          </p:cNvPr>
          <p:cNvSpPr>
            <a:spLocks noGrp="1"/>
          </p:cNvSpPr>
          <p:nvPr/>
        </p:nvSpPr>
        <p:spPr>
          <a:xfrm>
            <a:off x="695325" y="400050"/>
            <a:ext cx="7858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Three tracks, one shared outcome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32ED4F-6EDB-4DC9-AD7A-7FA064A7C372}"/>
              </a:ext>
            </a:extLst>
          </p:cNvPr>
          <p:cNvSpPr>
            <a:spLocks noGrp="1"/>
          </p:cNvSpPr>
          <p:nvPr/>
        </p:nvSpPr>
        <p:spPr>
          <a:xfrm>
            <a:off x="695325" y="1028700"/>
            <a:ext cx="7858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defPPr>
            <a:lvl1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1pPr>
            <a:lvl2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2pPr>
            <a:lvl3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3pPr>
            <a:lvl4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4pPr>
            <a:lvl5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5pPr>
            <a:lvl6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6pPr>
            <a:lvl7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7pPr>
            <a:lvl8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8pPr>
            <a:lvl9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Choose the route that matches your experience and interests.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960BBF-F70D-4597-88C2-20DF278E71BC}"/>
              </a:ext>
            </a:extLst>
          </p:cNvPr>
          <p:cNvSpPr>
            <a:spLocks noGrp="1"/>
          </p:cNvSpPr>
          <p:nvPr/>
        </p:nvSpPr>
        <p:spPr>
          <a:xfrm>
            <a:off x="695325" y="1647825"/>
            <a:ext cx="2381250" cy="28575"/>
          </a:xfrm>
          <a:prstGeom prst="rect">
            <a:avLst/>
          </a:prstGeom>
          <a:solidFill>
            <a:srgbClr val="168E91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45741E-112B-4A14-B2B4-309C4B51B4A9}"/>
              </a:ext>
            </a:extLst>
          </p:cNvPr>
          <p:cNvSpPr>
            <a:spLocks noGrp="1"/>
          </p:cNvSpPr>
          <p:nvPr/>
        </p:nvSpPr>
        <p:spPr>
          <a:xfrm>
            <a:off x="695325" y="18288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4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defPPr>
            <a:lvl1pPr>
              <a:defRPr sz="14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1pPr>
            <a:lvl2pPr>
              <a:defRPr sz="14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2pPr>
            <a:lvl3pPr>
              <a:defRPr sz="14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3pPr>
            <a:lvl4pPr>
              <a:defRPr sz="14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4pPr>
            <a:lvl5pPr>
              <a:defRPr sz="14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5pPr>
            <a:lvl6pPr>
              <a:defRPr sz="14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6pPr>
            <a:lvl7pPr>
              <a:defRPr sz="14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7pPr>
            <a:lvl8pPr>
              <a:defRPr sz="14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8pPr>
            <a:lvl9pPr>
              <a:defRPr sz="14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4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68E91"/>
                </a:solidFill>
                <a:latin typeface="Calibri"/>
                <a:ea typeface="Calibri"/>
                <a:cs typeface="Calibri"/>
              </a:rPr>
              <a:t>TRACK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F2E23C-9886-4720-A21E-0784E969639B}"/>
              </a:ext>
            </a:extLst>
          </p:cNvPr>
          <p:cNvSpPr>
            <a:spLocks noGrp="1"/>
          </p:cNvSpPr>
          <p:nvPr/>
        </p:nvSpPr>
        <p:spPr>
          <a:xfrm>
            <a:off x="695325" y="2247900"/>
            <a:ext cx="2428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pPr>
            <a:r>
              <a:rPr sz="2025" b="1" dirty="0">
                <a:solidFill>
                  <a:srgbClr val="168E91"/>
                </a:solidFill>
                <a:latin typeface="Calibri"/>
                <a:ea typeface="Calibri"/>
                <a:cs typeface="Calibri"/>
              </a:rPr>
              <a:t>Prepared RAG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C3A660-2C4A-4F5D-8728-400F613B673C}"/>
              </a:ext>
            </a:extLst>
          </p:cNvPr>
          <p:cNvSpPr>
            <a:spLocks noGrp="1"/>
          </p:cNvSpPr>
          <p:nvPr/>
        </p:nvSpPr>
        <p:spPr>
          <a:xfrm>
            <a:off x="695325" y="2809875"/>
            <a:ext cx="2381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Build on a ready-made</a:t>
            </a:r>
          </a:p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local retrieval backend.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C0CDF3-E4FD-41F9-902E-F210D7E3E694}"/>
              </a:ext>
            </a:extLst>
          </p:cNvPr>
          <p:cNvSpPr>
            <a:spLocks noGrp="1"/>
          </p:cNvSpPr>
          <p:nvPr/>
        </p:nvSpPr>
        <p:spPr>
          <a:xfrm>
            <a:off x="695325" y="3619500"/>
            <a:ext cx="2381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defPPr>
            <a:lvl1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1pPr>
            <a:lvl2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2pPr>
            <a:lvl3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3pPr>
            <a:lvl4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4pPr>
            <a:lvl5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5pPr>
            <a:lvl6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6pPr>
            <a:lvl7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7pPr>
            <a:lvl8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8pPr>
            <a:lvl9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Focus: interface and</a:t>
            </a:r>
          </a:p>
          <a:p>
            <a: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integration.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45AFAC-9647-4F3A-9298-8863549A11CC}"/>
              </a:ext>
            </a:extLst>
          </p:cNvPr>
          <p:cNvSpPr>
            <a:spLocks noGrp="1"/>
          </p:cNvSpPr>
          <p:nvPr/>
        </p:nvSpPr>
        <p:spPr>
          <a:xfrm>
            <a:off x="3390900" y="1647825"/>
            <a:ext cx="2381250" cy="28575"/>
          </a:xfrm>
          <a:prstGeom prst="rect">
            <a:avLst/>
          </a:prstGeom>
          <a:solidFill>
            <a:srgbClr val="246FA5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DCC426-E970-4550-921F-D51CD196E5D1}"/>
              </a:ext>
            </a:extLst>
          </p:cNvPr>
          <p:cNvSpPr>
            <a:spLocks noGrp="1"/>
          </p:cNvSpPr>
          <p:nvPr/>
        </p:nvSpPr>
        <p:spPr>
          <a:xfrm>
            <a:off x="3390900" y="18288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4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4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4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4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4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4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4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4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4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4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4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TRACK 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E8B37D-0DDA-47F2-9658-12A46482AB85}"/>
              </a:ext>
            </a:extLst>
          </p:cNvPr>
          <p:cNvSpPr>
            <a:spLocks noGrp="1"/>
          </p:cNvSpPr>
          <p:nvPr/>
        </p:nvSpPr>
        <p:spPr>
          <a:xfrm>
            <a:off x="3390900" y="2247900"/>
            <a:ext cx="2428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Direct PX-API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149FF7-CB64-42ED-9062-335304D058B9}"/>
              </a:ext>
            </a:extLst>
          </p:cNvPr>
          <p:cNvSpPr>
            <a:spLocks noGrp="1"/>
          </p:cNvSpPr>
          <p:nvPr/>
        </p:nvSpPr>
        <p:spPr>
          <a:xfrm>
            <a:off x="3390900" y="2809875"/>
            <a:ext cx="2381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Develop direct access to</a:t>
            </a:r>
          </a:p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official statistical tables.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584756-D7EA-4E28-B5B0-7F310F86B034}"/>
              </a:ext>
            </a:extLst>
          </p:cNvPr>
          <p:cNvSpPr>
            <a:spLocks noGrp="1"/>
          </p:cNvSpPr>
          <p:nvPr/>
        </p:nvSpPr>
        <p:spPr>
          <a:xfrm>
            <a:off x="3390900" y="3619500"/>
            <a:ext cx="2381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defPPr>
            <a:lvl1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1pPr>
            <a:lvl2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2pPr>
            <a:lvl3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3pPr>
            <a:lvl4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4pPr>
            <a:lvl5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5pPr>
            <a:lvl6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6pPr>
            <a:lvl7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7pPr>
            <a:lvl8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8pPr>
            <a:lvl9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Focus: data selection</a:t>
            </a:r>
          </a:p>
          <a:p>
            <a: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and backend logic.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80E876-2C34-4B16-9CC5-A6C8221EAA94}"/>
              </a:ext>
            </a:extLst>
          </p:cNvPr>
          <p:cNvSpPr>
            <a:spLocks noGrp="1"/>
          </p:cNvSpPr>
          <p:nvPr/>
        </p:nvSpPr>
        <p:spPr>
          <a:xfrm>
            <a:off x="6086475" y="1647825"/>
            <a:ext cx="2381250" cy="28575"/>
          </a:xfrm>
          <a:prstGeom prst="rect">
            <a:avLst/>
          </a:prstGeom>
          <a:solidFill>
            <a:srgbClr val="7751A8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64B9D3-9979-4FCC-A6E2-40416B32E842}"/>
              </a:ext>
            </a:extLst>
          </p:cNvPr>
          <p:cNvSpPr>
            <a:spLocks noGrp="1"/>
          </p:cNvSpPr>
          <p:nvPr/>
        </p:nvSpPr>
        <p:spPr>
          <a:xfrm>
            <a:off x="6086475" y="18288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4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defPPr>
            <a:lvl1pPr>
              <a:defRPr sz="14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1pPr>
            <a:lvl2pPr>
              <a:defRPr sz="14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2pPr>
            <a:lvl3pPr>
              <a:defRPr sz="14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3pPr>
            <a:lvl4pPr>
              <a:defRPr sz="14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4pPr>
            <a:lvl5pPr>
              <a:defRPr sz="14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5pPr>
            <a:lvl6pPr>
              <a:defRPr sz="14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6pPr>
            <a:lvl7pPr>
              <a:defRPr sz="14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7pPr>
            <a:lvl8pPr>
              <a:defRPr sz="14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8pPr>
            <a:lvl9pPr>
              <a:defRPr sz="14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4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7751A8"/>
                </a:solidFill>
                <a:latin typeface="Calibri"/>
                <a:ea typeface="Calibri"/>
                <a:cs typeface="Calibri"/>
              </a:rPr>
              <a:t>TRACK 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80D5CF-B11A-48B4-915B-13A6DD82019E}"/>
              </a:ext>
            </a:extLst>
          </p:cNvPr>
          <p:cNvSpPr>
            <a:spLocks noGrp="1"/>
          </p:cNvSpPr>
          <p:nvPr/>
        </p:nvSpPr>
        <p:spPr>
          <a:xfrm>
            <a:off x="6086475" y="2247900"/>
            <a:ext cx="2428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7751A8"/>
                </a:solidFill>
                <a:latin typeface="Calibri"/>
                <a:ea typeface="Calibri"/>
                <a:cs typeface="Calibri"/>
              </a:rPr>
              <a:t>RAG on HPC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124930-0353-46F2-9D0C-B5BCEBEB79BF}"/>
              </a:ext>
            </a:extLst>
          </p:cNvPr>
          <p:cNvSpPr>
            <a:spLocks noGrp="1"/>
          </p:cNvSpPr>
          <p:nvPr/>
        </p:nvSpPr>
        <p:spPr>
          <a:xfrm>
            <a:off x="6086475" y="2809875"/>
            <a:ext cx="2381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Use HPC for embeddings</a:t>
            </a:r>
          </a:p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and RAG optimisation.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F9DABA-8E3D-48DB-BEEE-8E168859FC8B}"/>
              </a:ext>
            </a:extLst>
          </p:cNvPr>
          <p:cNvSpPr>
            <a:spLocks noGrp="1"/>
          </p:cNvSpPr>
          <p:nvPr/>
        </p:nvSpPr>
        <p:spPr>
          <a:xfrm>
            <a:off x="6086475" y="3619500"/>
            <a:ext cx="2381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defPPr>
            <a:lvl1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1pPr>
            <a:lvl2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2pPr>
            <a:lvl3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3pPr>
            <a:lvl4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4pPr>
            <a:lvl5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5pPr>
            <a:lvl6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6pPr>
            <a:lvl7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7pPr>
            <a:lvl8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8pPr>
            <a:lvl9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575" b="0" dirty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Focus: retrieval quality</a:t>
            </a:r>
          </a:p>
          <a:p>
            <a: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575" b="0" dirty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and performance.</a:t>
            </a:r>
          </a:p>
        </p:txBody>
      </p:sp>
      <p:pic>
        <p:nvPicPr>
          <p:cNvPr id="31" name="Picture 18">
            <a:extLst>
              <a:ext uri="{FF2B5EF4-FFF2-40B4-BE49-F238E27FC236}">
                <a16:creationId xmlns:a16="http://schemas.microsoft.com/office/drawing/2014/main" id="{2C666AAE-20A6-A539-372D-65CE38945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89" y="4507757"/>
            <a:ext cx="7424387" cy="60431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B779DDB-88E9-06A3-5606-9FC9A056CC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0704" y="4539189"/>
            <a:ext cx="1224472" cy="57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45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7">
            <a:extLst>
              <a:ext uri="{FF2B5EF4-FFF2-40B4-BE49-F238E27FC236}">
                <a16:creationId xmlns:a16="http://schemas.microsoft.com/office/drawing/2014/main" id="{8F74AF53-D9DE-4B2E-A2F7-3A9B16F21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-15">
            <a:extLst>
              <a:ext uri="{FF2B5EF4-FFF2-40B4-BE49-F238E27FC236}">
                <a16:creationId xmlns:a16="http://schemas.microsoft.com/office/drawing/2014/main" id="{B79448A1-8A65-44EA-BACD-1722CAE1736E}"/>
              </a:ext>
            </a:extLst>
          </p:cNvPr>
          <p:cNvSpPr>
            <a:spLocks noGrp="1"/>
          </p:cNvSpPr>
          <p:nvPr/>
        </p:nvSpPr>
        <p:spPr>
          <a:xfrm>
            <a:off x="8705850" y="4880610"/>
            <a:ext cx="239325" cy="231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>
              <a:defRPr sz="1350"/>
            </a:pPr>
            <a:r>
              <a:rPr sz="1350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pic>
        <p:nvPicPr>
          <p:cNvPr id="4" name="Picture 25">
            <a:extLst>
              <a:ext uri="{FF2B5EF4-FFF2-40B4-BE49-F238E27FC236}">
                <a16:creationId xmlns:a16="http://schemas.microsoft.com/office/drawing/2014/main" id="{7094DE90-3EB3-FB21-6FD8-859C377563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83" y="4576865"/>
            <a:ext cx="6961511" cy="5666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DA0EF2C-A4AD-460D-A508-2ACE811DF56D}"/>
              </a:ext>
            </a:extLst>
          </p:cNvPr>
          <p:cNvSpPr>
            <a:spLocks noGrp="1"/>
          </p:cNvSpPr>
          <p:nvPr/>
        </p:nvSpPr>
        <p:spPr>
          <a:xfrm>
            <a:off x="476250" y="952500"/>
            <a:ext cx="8334375" cy="35528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E77305-F5C9-45E5-BADC-E02F8F130422}"/>
              </a:ext>
            </a:extLst>
          </p:cNvPr>
          <p:cNvSpPr>
            <a:spLocks noGrp="1"/>
          </p:cNvSpPr>
          <p:nvPr/>
        </p:nvSpPr>
        <p:spPr>
          <a:xfrm>
            <a:off x="695325" y="400050"/>
            <a:ext cx="7858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Track 1 · Prepared RAG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CF58E2-9944-4C95-BB0B-03E129B047C8}"/>
              </a:ext>
            </a:extLst>
          </p:cNvPr>
          <p:cNvSpPr>
            <a:spLocks noGrp="1"/>
          </p:cNvSpPr>
          <p:nvPr/>
        </p:nvSpPr>
        <p:spPr>
          <a:xfrm>
            <a:off x="695325" y="1028700"/>
            <a:ext cx="7858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defPPr>
            <a:lvl1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1pPr>
            <a:lvl2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2pPr>
            <a:lvl3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3pPr>
            <a:lvl4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4pPr>
            <a:lvl5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5pPr>
            <a:lvl6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6pPr>
            <a:lvl7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7pPr>
            <a:lvl8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8pPr>
            <a:lvl9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The same chatbot goal, with a different development focus.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06B30B-9343-4AD5-83DD-040A8C51CA50}"/>
              </a:ext>
            </a:extLst>
          </p:cNvPr>
          <p:cNvSpPr>
            <a:spLocks noGrp="1"/>
          </p:cNvSpPr>
          <p:nvPr/>
        </p:nvSpPr>
        <p:spPr>
          <a:xfrm>
            <a:off x="695325" y="1571625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68E91"/>
                </a:solidFill>
                <a:latin typeface="Calibri"/>
                <a:ea typeface="Calibri"/>
                <a:cs typeface="Calibri"/>
              </a:rPr>
              <a:t>Starting point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8F4EC8-EADE-4BE9-AEE4-2CB83843FC1D}"/>
              </a:ext>
            </a:extLst>
          </p:cNvPr>
          <p:cNvSpPr>
            <a:spLocks noGrp="1"/>
          </p:cNvSpPr>
          <p:nvPr/>
        </p:nvSpPr>
        <p:spPr>
          <a:xfrm>
            <a:off x="2867025" y="1571625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FastAPI, ChromaDB and SQLite, with a local LLM through Ollama.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6D3ACE-62C5-47DF-81A8-1F5C6BE8B04E}"/>
              </a:ext>
            </a:extLst>
          </p:cNvPr>
          <p:cNvSpPr>
            <a:spLocks noGrp="1"/>
          </p:cNvSpPr>
          <p:nvPr/>
        </p:nvSpPr>
        <p:spPr>
          <a:xfrm>
            <a:off x="695325" y="2495550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68E91"/>
                </a:solidFill>
                <a:latin typeface="Calibri"/>
                <a:ea typeface="Calibri"/>
                <a:cs typeface="Calibri"/>
              </a:rPr>
              <a:t>Team work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171129-B055-45D7-BBD5-A300C7D29C9E}"/>
              </a:ext>
            </a:extLst>
          </p:cNvPr>
          <p:cNvSpPr>
            <a:spLocks noGrp="1"/>
          </p:cNvSpPr>
          <p:nvPr/>
        </p:nvSpPr>
        <p:spPr>
          <a:xfrm>
            <a:off x="2867025" y="2495550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Build a web chatbot, connect the backend and test answers. Optionally extend the data using ingest.py.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AB6B9B-05EC-44B1-9456-9E70271F3871}"/>
              </a:ext>
            </a:extLst>
          </p:cNvPr>
          <p:cNvSpPr>
            <a:spLocks noGrp="1"/>
          </p:cNvSpPr>
          <p:nvPr/>
        </p:nvSpPr>
        <p:spPr>
          <a:xfrm>
            <a:off x="695325" y="3476625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168E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68E91"/>
                </a:solidFill>
                <a:latin typeface="Calibri"/>
                <a:ea typeface="Calibri"/>
                <a:cs typeface="Calibri"/>
              </a:rPr>
              <a:t>Files and setup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082D6A-C2D2-405F-A2DB-ED118EF95500}"/>
              </a:ext>
            </a:extLst>
          </p:cNvPr>
          <p:cNvSpPr>
            <a:spLocks noGrp="1"/>
          </p:cNvSpPr>
          <p:nvPr/>
        </p:nvSpPr>
        <p:spPr>
          <a:xfrm>
            <a:off x="2867025" y="3476625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GitHub code + README. Unzip hagstofa_db.zip beside app.py: chroma_db/ and data.db.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6F9FB5-E039-411C-8B29-EFFC4F185B72}"/>
              </a:ext>
            </a:extLst>
          </p:cNvPr>
          <p:cNvSpPr>
            <a:spLocks noGrp="1"/>
          </p:cNvSpPr>
          <p:nvPr/>
        </p:nvSpPr>
        <p:spPr>
          <a:xfrm>
            <a:off x="695325" y="4314825"/>
            <a:ext cx="7858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defPPr>
            <a:lvl1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1pPr>
            <a:lvl2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2pPr>
            <a:lvl3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3pPr>
            <a:lvl4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4pPr>
            <a:lvl5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5pPr>
            <a:lvl6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6pPr>
            <a:lvl7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7pPr>
            <a:lvl8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8pPr>
            <a:lvl9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Use the model and collection settings specified in the supplied README.</a:t>
            </a:r>
          </a:p>
        </p:txBody>
      </p:sp>
    </p:spTree>
    <p:extLst>
      <p:ext uri="{BB962C8B-B14F-4D97-AF65-F5344CB8AC3E}">
        <p14:creationId xmlns:p14="http://schemas.microsoft.com/office/powerpoint/2010/main" val="1813482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6166DD86-F05D-48F8-B222-F5FEB37B1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-8">
            <a:extLst>
              <a:ext uri="{FF2B5EF4-FFF2-40B4-BE49-F238E27FC236}">
                <a16:creationId xmlns:a16="http://schemas.microsoft.com/office/drawing/2014/main" id="{054FB6CE-FE84-4E4D-AD62-93FA37E46468}"/>
              </a:ext>
            </a:extLst>
          </p:cNvPr>
          <p:cNvSpPr>
            <a:spLocks noGrp="1"/>
          </p:cNvSpPr>
          <p:nvPr/>
        </p:nvSpPr>
        <p:spPr>
          <a:xfrm>
            <a:off x="8705850" y="4880610"/>
            <a:ext cx="239325" cy="231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>
              <a:defRPr sz="1350"/>
            </a:pPr>
            <a:r>
              <a:rPr sz="1350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pic>
        <p:nvPicPr>
          <p:cNvPr id="4" name="Picture 22">
            <a:extLst>
              <a:ext uri="{FF2B5EF4-FFF2-40B4-BE49-F238E27FC236}">
                <a16:creationId xmlns:a16="http://schemas.microsoft.com/office/drawing/2014/main" id="{7D08F1A0-1581-8DD1-0DDF-9177EA124A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83" y="4576865"/>
            <a:ext cx="6961511" cy="5666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891909E-9DCB-493F-BE9C-66120B4003A1}"/>
              </a:ext>
            </a:extLst>
          </p:cNvPr>
          <p:cNvSpPr>
            <a:spLocks noGrp="1"/>
          </p:cNvSpPr>
          <p:nvPr/>
        </p:nvSpPr>
        <p:spPr>
          <a:xfrm>
            <a:off x="476250" y="952500"/>
            <a:ext cx="8334375" cy="35528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729433-BE7B-4FF7-8FC4-C241A275374C}"/>
              </a:ext>
            </a:extLst>
          </p:cNvPr>
          <p:cNvSpPr>
            <a:spLocks noGrp="1"/>
          </p:cNvSpPr>
          <p:nvPr/>
        </p:nvSpPr>
        <p:spPr>
          <a:xfrm>
            <a:off x="695325" y="400050"/>
            <a:ext cx="7858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Track 2 · Direct PX-API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807ED5-DB0B-4495-AF9C-9C965F15B633}"/>
              </a:ext>
            </a:extLst>
          </p:cNvPr>
          <p:cNvSpPr>
            <a:spLocks noGrp="1"/>
          </p:cNvSpPr>
          <p:nvPr/>
        </p:nvSpPr>
        <p:spPr>
          <a:xfrm>
            <a:off x="695325" y="1028700"/>
            <a:ext cx="7858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defPPr>
            <a:lvl1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1pPr>
            <a:lvl2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2pPr>
            <a:lvl3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3pPr>
            <a:lvl4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4pPr>
            <a:lvl5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5pPr>
            <a:lvl6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6pPr>
            <a:lvl7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7pPr>
            <a:lvl8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8pPr>
            <a:lvl9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The same chatbot goal, with a different development focus.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B6C2F4-3E35-4CC7-B60B-BA539B89C3AC}"/>
              </a:ext>
            </a:extLst>
          </p:cNvPr>
          <p:cNvSpPr>
            <a:spLocks noGrp="1"/>
          </p:cNvSpPr>
          <p:nvPr/>
        </p:nvSpPr>
        <p:spPr>
          <a:xfrm>
            <a:off x="695325" y="1571625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Starting point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C5EC26-CAE0-42B9-A1EF-6D0513A45412}"/>
              </a:ext>
            </a:extLst>
          </p:cNvPr>
          <p:cNvSpPr>
            <a:spLocks noGrp="1"/>
          </p:cNvSpPr>
          <p:nvPr/>
        </p:nvSpPr>
        <p:spPr>
          <a:xfrm>
            <a:off x="2867025" y="1571625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A lightweight FastAPI starter that queries Statistics Iceland’s PX-API directly.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2BC64B-B706-428E-9C22-1816A7C3A41E}"/>
              </a:ext>
            </a:extLst>
          </p:cNvPr>
          <p:cNvSpPr>
            <a:spLocks noGrp="1"/>
          </p:cNvSpPr>
          <p:nvPr/>
        </p:nvSpPr>
        <p:spPr>
          <a:xfrm>
            <a:off x="695325" y="2495550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Team work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5768AC-DCD8-4A4B-9790-46E8B111A143}"/>
              </a:ext>
            </a:extLst>
          </p:cNvPr>
          <p:cNvSpPr>
            <a:spLocks noGrp="1"/>
          </p:cNvSpPr>
          <p:nvPr/>
        </p:nvSpPr>
        <p:spPr>
          <a:xfrm>
            <a:off x="2867025" y="2495550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Extend table selection and API queries. Build the web chatbot and integrate language-model responses.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C3E561-FDB0-4B46-8A3C-7FE69751EE08}"/>
              </a:ext>
            </a:extLst>
          </p:cNvPr>
          <p:cNvSpPr>
            <a:spLocks noGrp="1"/>
          </p:cNvSpPr>
          <p:nvPr/>
        </p:nvSpPr>
        <p:spPr>
          <a:xfrm>
            <a:off x="695325" y="3476625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Files and setup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65D3E3-0D29-4ADC-9B40-6163AF989AE3}"/>
              </a:ext>
            </a:extLst>
          </p:cNvPr>
          <p:cNvSpPr>
            <a:spLocks noGrp="1"/>
          </p:cNvSpPr>
          <p:nvPr/>
        </p:nvSpPr>
        <p:spPr>
          <a:xfrm>
            <a:off x="2867025" y="3476625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GitHub code + README. Fetch data and metadata through PX-API; no local vector database is required.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2C8FDA-C8FB-4F80-B489-A8F61F37CAF3}"/>
              </a:ext>
            </a:extLst>
          </p:cNvPr>
          <p:cNvSpPr>
            <a:spLocks noGrp="1"/>
          </p:cNvSpPr>
          <p:nvPr/>
        </p:nvSpPr>
        <p:spPr>
          <a:xfrm>
            <a:off x="695325" y="4314825"/>
            <a:ext cx="7858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defPPr>
            <a:lvl1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1pPr>
            <a:lvl2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2pPr>
            <a:lvl3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3pPr>
            <a:lvl4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4pPr>
            <a:lvl5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5pPr>
            <a:lvl6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6pPr>
            <a:lvl7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7pPr>
            <a:lvl8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8pPr>
            <a:lvl9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Validate table dimensions, filters, units and sources before generating answers.</a:t>
            </a:r>
          </a:p>
        </p:txBody>
      </p:sp>
    </p:spTree>
    <p:extLst>
      <p:ext uri="{BB962C8B-B14F-4D97-AF65-F5344CB8AC3E}">
        <p14:creationId xmlns:p14="http://schemas.microsoft.com/office/powerpoint/2010/main" val="1787927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E664F-AACC-3307-A4BC-0426A4E20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7">
            <a:extLst>
              <a:ext uri="{FF2B5EF4-FFF2-40B4-BE49-F238E27FC236}">
                <a16:creationId xmlns:a16="http://schemas.microsoft.com/office/drawing/2014/main" id="{AF780CDD-4F63-2F5D-63AC-0958936FE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-15">
            <a:extLst>
              <a:ext uri="{FF2B5EF4-FFF2-40B4-BE49-F238E27FC236}">
                <a16:creationId xmlns:a16="http://schemas.microsoft.com/office/drawing/2014/main" id="{DFF5DF68-269F-87A1-FED8-8D6B8AFDF64B}"/>
              </a:ext>
            </a:extLst>
          </p:cNvPr>
          <p:cNvSpPr>
            <a:spLocks noGrp="1"/>
          </p:cNvSpPr>
          <p:nvPr/>
        </p:nvSpPr>
        <p:spPr>
          <a:xfrm>
            <a:off x="8705850" y="4880610"/>
            <a:ext cx="239325" cy="231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>
              <a:defRPr sz="1350"/>
            </a:pPr>
            <a:r>
              <a:rPr sz="1350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pic>
        <p:nvPicPr>
          <p:cNvPr id="4" name="Picture 25">
            <a:extLst>
              <a:ext uri="{FF2B5EF4-FFF2-40B4-BE49-F238E27FC236}">
                <a16:creationId xmlns:a16="http://schemas.microsoft.com/office/drawing/2014/main" id="{F20CBE83-CDD5-2924-C716-FDB83453E7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83" y="4576865"/>
            <a:ext cx="6961511" cy="5666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B1AD787-A928-43E7-8E81-812CD51C8372}"/>
              </a:ext>
            </a:extLst>
          </p:cNvPr>
          <p:cNvSpPr>
            <a:spLocks noGrp="1"/>
          </p:cNvSpPr>
          <p:nvPr/>
        </p:nvSpPr>
        <p:spPr>
          <a:xfrm>
            <a:off x="476250" y="952500"/>
            <a:ext cx="8334375" cy="35528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00B9C0-CD4A-4601-AB58-E1D5605FD599}"/>
              </a:ext>
            </a:extLst>
          </p:cNvPr>
          <p:cNvSpPr>
            <a:spLocks noGrp="1"/>
          </p:cNvSpPr>
          <p:nvPr/>
        </p:nvSpPr>
        <p:spPr>
          <a:xfrm>
            <a:off x="695325" y="400050"/>
            <a:ext cx="7858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Track 3 · RAG on HPC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C7B9F2-46D0-40DE-AA83-98313D569F2A}"/>
              </a:ext>
            </a:extLst>
          </p:cNvPr>
          <p:cNvSpPr>
            <a:spLocks noGrp="1"/>
          </p:cNvSpPr>
          <p:nvPr/>
        </p:nvSpPr>
        <p:spPr>
          <a:xfrm>
            <a:off x="695325" y="1028700"/>
            <a:ext cx="7858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defPPr>
            <a:lvl1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1pPr>
            <a:lvl2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2pPr>
            <a:lvl3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3pPr>
            <a:lvl4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4pPr>
            <a:lvl5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5pPr>
            <a:lvl6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6pPr>
            <a:lvl7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7pPr>
            <a:lvl8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8pPr>
            <a:lvl9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The same chatbot goal, with a different development focus.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BD0D2B-943A-4EFB-AAF9-7CF957DEA071}"/>
              </a:ext>
            </a:extLst>
          </p:cNvPr>
          <p:cNvSpPr>
            <a:spLocks noGrp="1"/>
          </p:cNvSpPr>
          <p:nvPr/>
        </p:nvSpPr>
        <p:spPr>
          <a:xfrm>
            <a:off x="695325" y="1571625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7751A8"/>
                </a:solidFill>
                <a:latin typeface="Calibri"/>
                <a:ea typeface="Calibri"/>
                <a:cs typeface="Calibri"/>
              </a:rPr>
              <a:t>Starting point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037D2B-FE5F-4976-B2FF-CEEADF5351B8}"/>
              </a:ext>
            </a:extLst>
          </p:cNvPr>
          <p:cNvSpPr>
            <a:spLocks noGrp="1"/>
          </p:cNvSpPr>
          <p:nvPr/>
        </p:nvSpPr>
        <p:spPr>
          <a:xfrm>
            <a:off x="2867025" y="1571625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An additional embedding-based RAG project supplied by the collaborating track provider.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A51459-7002-4441-B9B5-A60C964C8185}"/>
              </a:ext>
            </a:extLst>
          </p:cNvPr>
          <p:cNvSpPr>
            <a:spLocks noGrp="1"/>
          </p:cNvSpPr>
          <p:nvPr/>
        </p:nvSpPr>
        <p:spPr>
          <a:xfrm>
            <a:off x="695325" y="2495550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7751A8"/>
                </a:solidFill>
                <a:latin typeface="Calibri"/>
                <a:ea typeface="Calibri"/>
                <a:cs typeface="Calibri"/>
              </a:rPr>
              <a:t>Team work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0FD0D7-CFE3-4170-A77A-833CD58EA493}"/>
              </a:ext>
            </a:extLst>
          </p:cNvPr>
          <p:cNvSpPr>
            <a:spLocks noGrp="1"/>
          </p:cNvSpPr>
          <p:nvPr/>
        </p:nvSpPr>
        <p:spPr>
          <a:xfrm>
            <a:off x="2867025" y="2495550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Use HPC to create or optimise embeddings and retrieval. Connect the results to a web chatbot.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D679F4-610C-482C-B11B-980F705E2B1F}"/>
              </a:ext>
            </a:extLst>
          </p:cNvPr>
          <p:cNvSpPr>
            <a:spLocks noGrp="1"/>
          </p:cNvSpPr>
          <p:nvPr/>
        </p:nvSpPr>
        <p:spPr>
          <a:xfrm>
            <a:off x="695325" y="3476625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7751A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7751A8"/>
                </a:solidFill>
                <a:latin typeface="Calibri"/>
                <a:ea typeface="Calibri"/>
                <a:cs typeface="Calibri"/>
              </a:rPr>
              <a:t>Files and setup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B76B56-603A-4F0F-A41C-FADA1F9232CF}"/>
              </a:ext>
            </a:extLst>
          </p:cNvPr>
          <p:cNvSpPr>
            <a:spLocks noGrp="1"/>
          </p:cNvSpPr>
          <p:nvPr/>
        </p:nvSpPr>
        <p:spPr>
          <a:xfrm>
            <a:off x="2867025" y="3476625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Code, data, HPC access and launch instructions will be provided in the track-specific README.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3FC584-A01A-478C-85E9-62F7D02A6343}"/>
              </a:ext>
            </a:extLst>
          </p:cNvPr>
          <p:cNvSpPr>
            <a:spLocks noGrp="1"/>
          </p:cNvSpPr>
          <p:nvPr/>
        </p:nvSpPr>
        <p:spPr>
          <a:xfrm>
            <a:off x="695325" y="4314825"/>
            <a:ext cx="7858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defPPr>
            <a:lvl1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1pPr>
            <a:lvl2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2pPr>
            <a:lvl3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3pPr>
            <a:lvl4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4pPr>
            <a:lvl5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5pPr>
            <a:lvl6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6pPr>
            <a:lvl7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7pPr>
            <a:lvl8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8pPr>
            <a:lvl9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Provider details are pending. Compare retrieval quality and performance in your demo.</a:t>
            </a:r>
          </a:p>
        </p:txBody>
      </p:sp>
    </p:spTree>
    <p:extLst>
      <p:ext uri="{BB962C8B-B14F-4D97-AF65-F5344CB8AC3E}">
        <p14:creationId xmlns:p14="http://schemas.microsoft.com/office/powerpoint/2010/main" val="353602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1A160-F6B4-2F27-CB9B-3F6BA7E71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B5FB6D4C-DBBE-D32C-9716-0E003BAAE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-8">
            <a:extLst>
              <a:ext uri="{FF2B5EF4-FFF2-40B4-BE49-F238E27FC236}">
                <a16:creationId xmlns:a16="http://schemas.microsoft.com/office/drawing/2014/main" id="{ADD91A5E-6C70-707B-43EA-EE46753B4D1A}"/>
              </a:ext>
            </a:extLst>
          </p:cNvPr>
          <p:cNvSpPr>
            <a:spLocks noGrp="1"/>
          </p:cNvSpPr>
          <p:nvPr/>
        </p:nvSpPr>
        <p:spPr>
          <a:xfrm>
            <a:off x="8705850" y="4880610"/>
            <a:ext cx="239325" cy="231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>
              <a:defRPr sz="1350"/>
            </a:pPr>
            <a:r>
              <a:rPr sz="1350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pic>
        <p:nvPicPr>
          <p:cNvPr id="4" name="Picture 22">
            <a:extLst>
              <a:ext uri="{FF2B5EF4-FFF2-40B4-BE49-F238E27FC236}">
                <a16:creationId xmlns:a16="http://schemas.microsoft.com/office/drawing/2014/main" id="{8038BCBC-FB7F-6502-8D58-0DA84BF789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83" y="4576865"/>
            <a:ext cx="6961511" cy="5666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865CAF8-6F41-4AE6-8B68-4978D835E572}"/>
              </a:ext>
            </a:extLst>
          </p:cNvPr>
          <p:cNvSpPr>
            <a:spLocks noGrp="1"/>
          </p:cNvSpPr>
          <p:nvPr/>
        </p:nvSpPr>
        <p:spPr>
          <a:xfrm>
            <a:off x="476250" y="952500"/>
            <a:ext cx="8334375" cy="35528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5092ED-2B2F-423B-90AB-319D74032DAE}"/>
              </a:ext>
            </a:extLst>
          </p:cNvPr>
          <p:cNvSpPr>
            <a:spLocks noGrp="1"/>
          </p:cNvSpPr>
          <p:nvPr/>
        </p:nvSpPr>
        <p:spPr>
          <a:xfrm>
            <a:off x="695325" y="400050"/>
            <a:ext cx="7858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Getting started · All tracks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431A3E-E7A0-4B93-8774-16A7A9749851}"/>
              </a:ext>
            </a:extLst>
          </p:cNvPr>
          <p:cNvSpPr>
            <a:spLocks noGrp="1"/>
          </p:cNvSpPr>
          <p:nvPr/>
        </p:nvSpPr>
        <p:spPr>
          <a:xfrm>
            <a:off x="695325" y="1028700"/>
            <a:ext cx="7858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defPPr>
            <a:lvl1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1pPr>
            <a:lvl2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2pPr>
            <a:lvl3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3pPr>
            <a:lvl4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4pPr>
            <a:lvl5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5pPr>
            <a:lvl6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6pPr>
            <a:lvl7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7pPr>
            <a:lvl8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8pPr>
            <a:lvl9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Use the README for your track as the setup reference.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F04C55-285D-4F42-8939-CD94B7CFB0C9}"/>
              </a:ext>
            </a:extLst>
          </p:cNvPr>
          <p:cNvSpPr>
            <a:spLocks noGrp="1"/>
          </p:cNvSpPr>
          <p:nvPr/>
        </p:nvSpPr>
        <p:spPr>
          <a:xfrm>
            <a:off x="695325" y="1514475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Get the materials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DA0385-C5BC-4622-9D89-1D1C7A4DE1B3}"/>
              </a:ext>
            </a:extLst>
          </p:cNvPr>
          <p:cNvSpPr>
            <a:spLocks noGrp="1"/>
          </p:cNvSpPr>
          <p:nvPr/>
        </p:nvSpPr>
        <p:spPr>
          <a:xfrm>
            <a:off x="2867025" y="1514475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Code and instructions on GitHub. Larger data archives on Google Drive, linked from the README.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CC06A3-101B-4313-9CCD-790F9DEC7E15}"/>
              </a:ext>
            </a:extLst>
          </p:cNvPr>
          <p:cNvSpPr>
            <a:spLocks noGrp="1"/>
          </p:cNvSpPr>
          <p:nvPr/>
        </p:nvSpPr>
        <p:spPr>
          <a:xfrm>
            <a:off x="695325" y="2390775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Prepare your runtime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F37D76-F4F4-4EE3-BD93-7A7592D6D9CA}"/>
              </a:ext>
            </a:extLst>
          </p:cNvPr>
          <p:cNvSpPr>
            <a:spLocks noGrp="1"/>
          </p:cNvSpPr>
          <p:nvPr/>
        </p:nvSpPr>
        <p:spPr>
          <a:xfrm>
            <a:off x="2867025" y="2390775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Tracks 1–2: Python 3.10+, venv and requirements.txt.</a:t>
            </a:r>
          </a:p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Track 1 also needs its databases and Ollama / Llama 3.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0B6A97-19CE-49E8-894C-7CE147622417}"/>
              </a:ext>
            </a:extLst>
          </p:cNvPr>
          <p:cNvSpPr>
            <a:spLocks noGrp="1"/>
          </p:cNvSpPr>
          <p:nvPr/>
        </p:nvSpPr>
        <p:spPr>
          <a:xfrm>
            <a:off x="695325" y="3333750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Start and test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5D3147-129A-4FAF-BEAC-C639C41896C6}"/>
              </a:ext>
            </a:extLst>
          </p:cNvPr>
          <p:cNvSpPr>
            <a:spLocks noGrp="1"/>
          </p:cNvSpPr>
          <p:nvPr/>
        </p:nvSpPr>
        <p:spPr>
          <a:xfrm>
            <a:off x="2867025" y="3333750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Tracks 1–2: uvicorn app:app --reload, then /docs or cURL.</a:t>
            </a:r>
          </a:p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Track 3: follow the provider’s HPC environment and job instructions.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82CD23-CE2B-45BB-84F7-9BCFD995A91A}"/>
              </a:ext>
            </a:extLst>
          </p:cNvPr>
          <p:cNvSpPr>
            <a:spLocks noGrp="1"/>
          </p:cNvSpPr>
          <p:nvPr/>
        </p:nvSpPr>
        <p:spPr>
          <a:xfrm>
            <a:off x="695325" y="4314825"/>
            <a:ext cx="7858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defPPr>
            <a:lvl1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1pPr>
            <a:lvl2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2pPr>
            <a:lvl3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3pPr>
            <a:lvl4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4pPr>
            <a:lvl5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5pPr>
            <a:lvl6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6pPr>
            <a:lvl7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7pPr>
            <a:lvl8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8pPr>
            <a:lvl9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Final repository links and Track 3 access instructions are still to be supplied.</a:t>
            </a:r>
          </a:p>
        </p:txBody>
      </p:sp>
    </p:spTree>
    <p:extLst>
      <p:ext uri="{BB962C8B-B14F-4D97-AF65-F5344CB8AC3E}">
        <p14:creationId xmlns:p14="http://schemas.microsoft.com/office/powerpoint/2010/main" val="752179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>
            <a:extLst>
              <a:ext uri="{FF2B5EF4-FFF2-40B4-BE49-F238E27FC236}">
                <a16:creationId xmlns:a16="http://schemas.microsoft.com/office/drawing/2014/main" id="{779F5F0F-9B72-4713-B866-BCF8F44CB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-129956" y="-27837"/>
            <a:ext cx="9144000" cy="5143500"/>
          </a:xfrm>
          <a:prstGeom prst="rect">
            <a:avLst/>
          </a:prstGeom>
        </p:spPr>
      </p:pic>
      <p:sp>
        <p:nvSpPr>
          <p:cNvPr id="3" name="Text-2">
            <a:extLst>
              <a:ext uri="{FF2B5EF4-FFF2-40B4-BE49-F238E27FC236}">
                <a16:creationId xmlns:a16="http://schemas.microsoft.com/office/drawing/2014/main" id="{F5411E24-3574-4271-BC20-0CDC58FB2A3C}"/>
              </a:ext>
            </a:extLst>
          </p:cNvPr>
          <p:cNvSpPr>
            <a:spLocks noGrp="1"/>
          </p:cNvSpPr>
          <p:nvPr/>
        </p:nvSpPr>
        <p:spPr>
          <a:xfrm>
            <a:off x="8705850" y="4880610"/>
            <a:ext cx="239325" cy="231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>
              <a:defRPr sz="1350"/>
            </a:pPr>
            <a:r>
              <a:rPr sz="1350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74DEDD6A-17EA-511E-7482-998711604A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25" y="4576865"/>
            <a:ext cx="6961511" cy="5666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959B4AD-618D-4B52-888F-2B7A821EB30D}"/>
              </a:ext>
            </a:extLst>
          </p:cNvPr>
          <p:cNvSpPr>
            <a:spLocks noGrp="1"/>
          </p:cNvSpPr>
          <p:nvPr/>
        </p:nvSpPr>
        <p:spPr>
          <a:xfrm>
            <a:off x="476250" y="952500"/>
            <a:ext cx="8334375" cy="35528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03FD4D-7D1E-41DB-BB93-99357F048242}"/>
              </a:ext>
            </a:extLst>
          </p:cNvPr>
          <p:cNvSpPr>
            <a:spLocks noGrp="1"/>
          </p:cNvSpPr>
          <p:nvPr/>
        </p:nvSpPr>
        <p:spPr>
          <a:xfrm>
            <a:off x="695325" y="400050"/>
            <a:ext cx="7858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Show a working solution · Every track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3B786C-4456-4077-88EC-0D50004CC7D5}"/>
              </a:ext>
            </a:extLst>
          </p:cNvPr>
          <p:cNvSpPr>
            <a:spLocks noGrp="1"/>
          </p:cNvSpPr>
          <p:nvPr/>
        </p:nvSpPr>
        <p:spPr>
          <a:xfrm>
            <a:off x="695325" y="1028700"/>
            <a:ext cx="7858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defPPr>
            <a:lvl1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1pPr>
            <a:lvl2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2pPr>
            <a:lvl3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3pPr>
            <a:lvl4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4pPr>
            <a:lvl5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5pPr>
            <a:lvl6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6pPr>
            <a:lvl7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7pPr>
            <a:lvl8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8pPr>
            <a:lvl9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Use the same demonstration structure so the approaches are easy to compare.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3FA3D-133C-41A0-9931-890CDC3F923E}"/>
              </a:ext>
            </a:extLst>
          </p:cNvPr>
          <p:cNvSpPr>
            <a:spLocks noGrp="1"/>
          </p:cNvSpPr>
          <p:nvPr/>
        </p:nvSpPr>
        <p:spPr>
          <a:xfrm>
            <a:off x="695325" y="1552575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1  Ask and answer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7A468B-3342-4D65-B364-1A518FE4FDC3}"/>
              </a:ext>
            </a:extLst>
          </p:cNvPr>
          <p:cNvSpPr>
            <a:spLocks noGrp="1"/>
          </p:cNvSpPr>
          <p:nvPr/>
        </p:nvSpPr>
        <p:spPr>
          <a:xfrm>
            <a:off x="2867025" y="1552575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Show a real question in your web UI, the retrieved values and an answer with units and an official source.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F3BE7A-4BAF-4BE6-9C44-D19DDD70E745}"/>
              </a:ext>
            </a:extLst>
          </p:cNvPr>
          <p:cNvSpPr>
            <a:spLocks noGrp="1"/>
          </p:cNvSpPr>
          <p:nvPr/>
        </p:nvSpPr>
        <p:spPr>
          <a:xfrm>
            <a:off x="695325" y="2466975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2  Explain your route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4312AE-BBC5-46E2-A11C-21695C671120}"/>
              </a:ext>
            </a:extLst>
          </p:cNvPr>
          <p:cNvSpPr>
            <a:spLocks noGrp="1"/>
          </p:cNvSpPr>
          <p:nvPr/>
        </p:nvSpPr>
        <p:spPr>
          <a:xfrm>
            <a:off x="2867025" y="2466975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Track 1: local RAG. Track 2: PX-API table selection.</a:t>
            </a:r>
          </a:p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Track 3: embeddings, retrieval and the role of HPC.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97D6F0-2C8F-4829-927A-6647AEDAB269}"/>
              </a:ext>
            </a:extLst>
          </p:cNvPr>
          <p:cNvSpPr>
            <a:spLocks noGrp="1"/>
          </p:cNvSpPr>
          <p:nvPr/>
        </p:nvSpPr>
        <p:spPr>
          <a:xfrm>
            <a:off x="695325" y="3390900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3  Show 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D76A04-9ECD-45D1-A597-884200322581}"/>
              </a:ext>
            </a:extLst>
          </p:cNvPr>
          <p:cNvSpPr>
            <a:spLocks noGrp="1"/>
          </p:cNvSpPr>
          <p:nvPr/>
        </p:nvSpPr>
        <p:spPr>
          <a:xfrm>
            <a:off x="2867025" y="3390900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Check the answer against the source. Show an ambiguous query, response time and a known limitation.</a:t>
            </a:r>
          </a:p>
        </p:txBody>
      </p:sp>
    </p:spTree>
    <p:extLst>
      <p:ext uri="{BB962C8B-B14F-4D97-AF65-F5344CB8AC3E}">
        <p14:creationId xmlns:p14="http://schemas.microsoft.com/office/powerpoint/2010/main" val="689283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1">
            <a:extLst>
              <a:ext uri="{FF2B5EF4-FFF2-40B4-BE49-F238E27FC236}">
                <a16:creationId xmlns:a16="http://schemas.microsoft.com/office/drawing/2014/main" id="{D8365FC9-2119-4BB9-94C5-6DDF2EBF4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-11">
            <a:extLst>
              <a:ext uri="{FF2B5EF4-FFF2-40B4-BE49-F238E27FC236}">
                <a16:creationId xmlns:a16="http://schemas.microsoft.com/office/drawing/2014/main" id="{0648A03C-C52E-4F87-97EA-0AACCB17A753}"/>
              </a:ext>
            </a:extLst>
          </p:cNvPr>
          <p:cNvSpPr>
            <a:spLocks noGrp="1"/>
          </p:cNvSpPr>
          <p:nvPr/>
        </p:nvSpPr>
        <p:spPr>
          <a:xfrm>
            <a:off x="8705850" y="4880610"/>
            <a:ext cx="326193" cy="231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>
              <a:defRPr sz="1350"/>
            </a:pPr>
            <a:r>
              <a:rPr sz="1350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pic>
        <p:nvPicPr>
          <p:cNvPr id="4" name="Picture 32">
            <a:extLst>
              <a:ext uri="{FF2B5EF4-FFF2-40B4-BE49-F238E27FC236}">
                <a16:creationId xmlns:a16="http://schemas.microsoft.com/office/drawing/2014/main" id="{F532154C-E459-FEE9-14F3-480A89405A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83" y="4576865"/>
            <a:ext cx="6961511" cy="5666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E0745B6-1DE7-4F74-AF58-B0A29DA43BD3}"/>
              </a:ext>
            </a:extLst>
          </p:cNvPr>
          <p:cNvSpPr>
            <a:spLocks noGrp="1"/>
          </p:cNvSpPr>
          <p:nvPr/>
        </p:nvSpPr>
        <p:spPr>
          <a:xfrm>
            <a:off x="476250" y="952500"/>
            <a:ext cx="8334375" cy="35528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DCF162-486F-4EB8-B58F-F4B9639FF989}"/>
              </a:ext>
            </a:extLst>
          </p:cNvPr>
          <p:cNvSpPr>
            <a:spLocks noGrp="1"/>
          </p:cNvSpPr>
          <p:nvPr/>
        </p:nvSpPr>
        <p:spPr>
          <a:xfrm>
            <a:off x="695325" y="400050"/>
            <a:ext cx="7858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Judging criteria · Draft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A9C2F5-E2E0-49F9-BF02-93CDED81A700}"/>
              </a:ext>
            </a:extLst>
          </p:cNvPr>
          <p:cNvSpPr>
            <a:spLocks noGrp="1"/>
          </p:cNvSpPr>
          <p:nvPr/>
        </p:nvSpPr>
        <p:spPr>
          <a:xfrm>
            <a:off x="695325" y="1028700"/>
            <a:ext cx="7858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defPPr>
            <a:lvl1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1pPr>
            <a:lvl2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2pPr>
            <a:lvl3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3pPr>
            <a:lvl4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4pPr>
            <a:lvl5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5pPr>
            <a:lvl6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6pPr>
            <a:lvl7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7pPr>
            <a:lvl8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8pPr>
            <a:lvl9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Proposed common criteria for all three tracks · Each scored from 1 to 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1402C9-75FC-4028-9F3F-79EB81FD4957}"/>
              </a:ext>
            </a:extLst>
          </p:cNvPr>
          <p:cNvSpPr>
            <a:spLocks noGrp="1"/>
          </p:cNvSpPr>
          <p:nvPr/>
        </p:nvSpPr>
        <p:spPr>
          <a:xfrm>
            <a:off x="695325" y="1552575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Functionality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BFDE81-5A7A-4B03-813D-B8D586C3079B}"/>
              </a:ext>
            </a:extLst>
          </p:cNvPr>
          <p:cNvSpPr>
            <a:spLocks noGrp="1"/>
          </p:cNvSpPr>
          <p:nvPr/>
        </p:nvSpPr>
        <p:spPr>
          <a:xfrm>
            <a:off x="2886075" y="1552575"/>
            <a:ext cx="561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Correct retrieval and answers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5E4E51-09DA-455B-9914-57D92B7FF1D8}"/>
              </a:ext>
            </a:extLst>
          </p:cNvPr>
          <p:cNvSpPr>
            <a:spLocks noGrp="1"/>
          </p:cNvSpPr>
          <p:nvPr/>
        </p:nvSpPr>
        <p:spPr>
          <a:xfrm>
            <a:off x="695325" y="1971675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Presentation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604DB4-DAC8-4613-9C03-F5B1857C54F0}"/>
              </a:ext>
            </a:extLst>
          </p:cNvPr>
          <p:cNvSpPr>
            <a:spLocks noGrp="1"/>
          </p:cNvSpPr>
          <p:nvPr/>
        </p:nvSpPr>
        <p:spPr>
          <a:xfrm>
            <a:off x="2886075" y="1971675"/>
            <a:ext cx="561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Clear, readable interface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9A03AD-E61F-4C72-B69C-748CE97C4B28}"/>
              </a:ext>
            </a:extLst>
          </p:cNvPr>
          <p:cNvSpPr>
            <a:spLocks noGrp="1"/>
          </p:cNvSpPr>
          <p:nvPr/>
        </p:nvSpPr>
        <p:spPr>
          <a:xfrm>
            <a:off x="695325" y="2390775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Usability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CD8E59-4F21-481D-847C-BF0765C95489}"/>
              </a:ext>
            </a:extLst>
          </p:cNvPr>
          <p:cNvSpPr>
            <a:spLocks noGrp="1"/>
          </p:cNvSpPr>
          <p:nvPr/>
        </p:nvSpPr>
        <p:spPr>
          <a:xfrm>
            <a:off x="2886075" y="2390775"/>
            <a:ext cx="561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Easy questions and navigation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5F69AB-FDF6-44C5-8D71-325CB08A7DC5}"/>
              </a:ext>
            </a:extLst>
          </p:cNvPr>
          <p:cNvSpPr>
            <a:spLocks noGrp="1"/>
          </p:cNvSpPr>
          <p:nvPr/>
        </p:nvSpPr>
        <p:spPr>
          <a:xfrm>
            <a:off x="695325" y="2809875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Clarity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AC2B4F-D489-434F-A090-1526633B2B48}"/>
              </a:ext>
            </a:extLst>
          </p:cNvPr>
          <p:cNvSpPr>
            <a:spLocks noGrp="1"/>
          </p:cNvSpPr>
          <p:nvPr/>
        </p:nvSpPr>
        <p:spPr>
          <a:xfrm>
            <a:off x="2886075" y="2809875"/>
            <a:ext cx="561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Understandable answers and sources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686579-7FB3-44DE-A31C-8FCC2F555EBC}"/>
              </a:ext>
            </a:extLst>
          </p:cNvPr>
          <p:cNvSpPr>
            <a:spLocks noGrp="1"/>
          </p:cNvSpPr>
          <p:nvPr/>
        </p:nvSpPr>
        <p:spPr>
          <a:xfrm>
            <a:off x="695325" y="3228975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Deployment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F27E23-8C76-4213-8E2D-4FA4BCB34CC4}"/>
              </a:ext>
            </a:extLst>
          </p:cNvPr>
          <p:cNvSpPr>
            <a:spLocks noGrp="1"/>
          </p:cNvSpPr>
          <p:nvPr/>
        </p:nvSpPr>
        <p:spPr>
          <a:xfrm>
            <a:off x="2886075" y="3228975"/>
            <a:ext cx="561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A reproducible, workable solution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37449A-CB85-4F90-8FBF-25C5D5E7CEEB}"/>
              </a:ext>
            </a:extLst>
          </p:cNvPr>
          <p:cNvSpPr>
            <a:spLocks noGrp="1"/>
          </p:cNvSpPr>
          <p:nvPr/>
        </p:nvSpPr>
        <p:spPr>
          <a:xfrm>
            <a:off x="695325" y="3648075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User value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926E67-FEDE-47ED-BFD0-9E0B4056B636}"/>
              </a:ext>
            </a:extLst>
          </p:cNvPr>
          <p:cNvSpPr>
            <a:spLocks noGrp="1"/>
          </p:cNvSpPr>
          <p:nvPr/>
        </p:nvSpPr>
        <p:spPr>
          <a:xfrm>
            <a:off x="2886075" y="3648075"/>
            <a:ext cx="561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A useful statistical use case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ECB028-0D9E-48D6-A44B-75E265CA75B0}"/>
              </a:ext>
            </a:extLst>
          </p:cNvPr>
          <p:cNvSpPr>
            <a:spLocks noGrp="1"/>
          </p:cNvSpPr>
          <p:nvPr/>
        </p:nvSpPr>
        <p:spPr>
          <a:xfrm>
            <a:off x="695325" y="4238625"/>
            <a:ext cx="785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42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defPPr>
            <a:lvl1pPr>
              <a:defRPr sz="142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1pPr>
            <a:lvl2pPr>
              <a:defRPr sz="142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2pPr>
            <a:lvl3pPr>
              <a:defRPr sz="142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3pPr>
            <a:lvl4pPr>
              <a:defRPr sz="142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4pPr>
            <a:lvl5pPr>
              <a:defRPr sz="142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5pPr>
            <a:lvl6pPr>
              <a:defRPr sz="142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6pPr>
            <a:lvl7pPr>
              <a:defRPr sz="142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7pPr>
            <a:lvl8pPr>
              <a:defRPr sz="142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8pPr>
            <a:lvl9pPr>
              <a:defRPr sz="142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42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Total: 6–30 points. Assess the result and evidence, not the amount of hardware used.</a:t>
            </a:r>
          </a:p>
        </p:txBody>
      </p:sp>
    </p:spTree>
    <p:extLst>
      <p:ext uri="{BB962C8B-B14F-4D97-AF65-F5344CB8AC3E}">
        <p14:creationId xmlns:p14="http://schemas.microsoft.com/office/powerpoint/2010/main" val="1828169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>
            <a:extLst>
              <a:ext uri="{FF2B5EF4-FFF2-40B4-BE49-F238E27FC236}">
                <a16:creationId xmlns:a16="http://schemas.microsoft.com/office/drawing/2014/main" id="{A69D64EA-A919-46B6-A7D0-8C9E929AB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-6">
            <a:extLst>
              <a:ext uri="{FF2B5EF4-FFF2-40B4-BE49-F238E27FC236}">
                <a16:creationId xmlns:a16="http://schemas.microsoft.com/office/drawing/2014/main" id="{958DE0D0-8FE7-495D-A476-9F03019EC355}"/>
              </a:ext>
            </a:extLst>
          </p:cNvPr>
          <p:cNvSpPr>
            <a:spLocks noGrp="1"/>
          </p:cNvSpPr>
          <p:nvPr/>
        </p:nvSpPr>
        <p:spPr>
          <a:xfrm>
            <a:off x="8705850" y="4880610"/>
            <a:ext cx="326193" cy="231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>
              <a:defRPr sz="1350"/>
            </a:pPr>
            <a:r>
              <a:rPr sz="1350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3F78902E-20B0-5C00-5749-8BE1B275D6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83" y="4576865"/>
            <a:ext cx="6961511" cy="5666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8957055-76C5-4155-A7B7-7644D667571B}"/>
              </a:ext>
            </a:extLst>
          </p:cNvPr>
          <p:cNvSpPr>
            <a:spLocks noGrp="1"/>
          </p:cNvSpPr>
          <p:nvPr/>
        </p:nvSpPr>
        <p:spPr>
          <a:xfrm>
            <a:off x="476250" y="952500"/>
            <a:ext cx="8334375" cy="35528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B520E5-9E9A-401E-8094-34020838C966}"/>
              </a:ext>
            </a:extLst>
          </p:cNvPr>
          <p:cNvSpPr>
            <a:spLocks noGrp="1"/>
          </p:cNvSpPr>
          <p:nvPr/>
        </p:nvSpPr>
        <p:spPr>
          <a:xfrm>
            <a:off x="695325" y="400050"/>
            <a:ext cx="7858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Final presentations and the winning solution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7B32B4-27E4-4D8C-91F7-A83D04B708CF}"/>
              </a:ext>
            </a:extLst>
          </p:cNvPr>
          <p:cNvSpPr>
            <a:spLocks noGrp="1"/>
          </p:cNvSpPr>
          <p:nvPr/>
        </p:nvSpPr>
        <p:spPr>
          <a:xfrm>
            <a:off x="695325" y="1028700"/>
            <a:ext cx="7858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defPPr>
            <a:lvl1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1pPr>
            <a:lvl2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2pPr>
            <a:lvl3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3pPr>
            <a:lvl4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4pPr>
            <a:lvl5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5pPr>
            <a:lvl6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6pPr>
            <a:lvl7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7pPr>
            <a:lvl8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8pPr>
            <a:lvl9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Shortlisting and presentation format remain a draft.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BBBCE7-75C4-42A5-90CA-E7CB503E11C9}"/>
              </a:ext>
            </a:extLst>
          </p:cNvPr>
          <p:cNvSpPr>
            <a:spLocks noGrp="1"/>
          </p:cNvSpPr>
          <p:nvPr/>
        </p:nvSpPr>
        <p:spPr>
          <a:xfrm>
            <a:off x="695325" y="1543050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Submit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0B518F-0EED-4AB3-9324-F02325E76F1F}"/>
              </a:ext>
            </a:extLst>
          </p:cNvPr>
          <p:cNvSpPr>
            <a:spLocks noGrp="1"/>
          </p:cNvSpPr>
          <p:nvPr/>
        </p:nvSpPr>
        <p:spPr>
          <a:xfrm>
            <a:off x="2867025" y="1543050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A working prototype and 5–7 slides explaining the use case, approach, results and limitations.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5F34A0-690B-4A72-94FB-820C56A0469F}"/>
              </a:ext>
            </a:extLst>
          </p:cNvPr>
          <p:cNvSpPr>
            <a:spLocks noGrp="1"/>
          </p:cNvSpPr>
          <p:nvPr/>
        </p:nvSpPr>
        <p:spPr>
          <a:xfrm>
            <a:off x="695325" y="2466975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Present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B55DA9-78B2-4836-AD6A-640AE46651BC}"/>
              </a:ext>
            </a:extLst>
          </p:cNvPr>
          <p:cNvSpPr>
            <a:spLocks noGrp="1"/>
          </p:cNvSpPr>
          <p:nvPr/>
        </p:nvSpPr>
        <p:spPr>
          <a:xfrm>
            <a:off x="2867025" y="2466975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Proposed shortlist: five teams. Each selected team has 10 minutes to demonstrate its solution.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367E4F-474B-405B-851D-4F601FD4F32D}"/>
              </a:ext>
            </a:extLst>
          </p:cNvPr>
          <p:cNvSpPr>
            <a:spLocks noGrp="1"/>
          </p:cNvSpPr>
          <p:nvPr/>
        </p:nvSpPr>
        <p:spPr>
          <a:xfrm>
            <a:off x="695325" y="3400425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The winner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109D34-988C-403B-BA7C-F3E7E7D488FB}"/>
              </a:ext>
            </a:extLst>
          </p:cNvPr>
          <p:cNvSpPr>
            <a:spLocks noGrp="1"/>
          </p:cNvSpPr>
          <p:nvPr/>
        </p:nvSpPr>
        <p:spPr>
          <a:xfrm>
            <a:off x="2867025" y="3400425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The highest-scoring team receives a prize and presents its solution at Gagnvist on 26 November.</a:t>
            </a:r>
          </a:p>
        </p:txBody>
      </p:sp>
    </p:spTree>
    <p:extLst>
      <p:ext uri="{BB962C8B-B14F-4D97-AF65-F5344CB8AC3E}">
        <p14:creationId xmlns:p14="http://schemas.microsoft.com/office/powerpoint/2010/main" val="1385361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>
            <a:extLst>
              <a:ext uri="{FF2B5EF4-FFF2-40B4-BE49-F238E27FC236}">
                <a16:creationId xmlns:a16="http://schemas.microsoft.com/office/drawing/2014/main" id="{062B9589-0C4A-450A-91CE-4BCC6AD78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-10">
            <a:extLst>
              <a:ext uri="{FF2B5EF4-FFF2-40B4-BE49-F238E27FC236}">
                <a16:creationId xmlns:a16="http://schemas.microsoft.com/office/drawing/2014/main" id="{B2C91AE6-73B4-462A-AC74-8347C665A17D}"/>
              </a:ext>
            </a:extLst>
          </p:cNvPr>
          <p:cNvSpPr>
            <a:spLocks noGrp="1"/>
          </p:cNvSpPr>
          <p:nvPr/>
        </p:nvSpPr>
        <p:spPr>
          <a:xfrm>
            <a:off x="8705850" y="4880610"/>
            <a:ext cx="326193" cy="231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>
              <a:defRPr sz="1350"/>
            </a:pPr>
            <a:r>
              <a:rPr sz="1350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pic>
        <p:nvPicPr>
          <p:cNvPr id="4" name="Picture 18">
            <a:extLst>
              <a:ext uri="{FF2B5EF4-FFF2-40B4-BE49-F238E27FC236}">
                <a16:creationId xmlns:a16="http://schemas.microsoft.com/office/drawing/2014/main" id="{433A43E9-BA1D-5534-6A45-322DBA9FA9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83" y="4576865"/>
            <a:ext cx="6961511" cy="5666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5E82943-5B4F-43F7-8327-FA5084466069}"/>
              </a:ext>
            </a:extLst>
          </p:cNvPr>
          <p:cNvSpPr>
            <a:spLocks noGrp="1"/>
          </p:cNvSpPr>
          <p:nvPr/>
        </p:nvSpPr>
        <p:spPr>
          <a:xfrm>
            <a:off x="476250" y="952500"/>
            <a:ext cx="8334375" cy="35528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05FC3-0DB6-496F-8FDE-D6E0D5EB5820}"/>
              </a:ext>
            </a:extLst>
          </p:cNvPr>
          <p:cNvSpPr>
            <a:spLocks noGrp="1"/>
          </p:cNvSpPr>
          <p:nvPr/>
        </p:nvSpPr>
        <p:spPr>
          <a:xfrm>
            <a:off x="695325" y="400050"/>
            <a:ext cx="7858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Schedule · 28 October to 1 November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85A491-8B56-4CD4-95A6-E9A437E3082D}"/>
              </a:ext>
            </a:extLst>
          </p:cNvPr>
          <p:cNvSpPr>
            <a:spLocks noGrp="1"/>
          </p:cNvSpPr>
          <p:nvPr/>
        </p:nvSpPr>
        <p:spPr>
          <a:xfrm>
            <a:off x="695325" y="1028700"/>
            <a:ext cx="7858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defPPr>
            <a:lvl1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1pPr>
            <a:lvl2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2pPr>
            <a:lvl3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3pPr>
            <a:lvl4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4pPr>
            <a:lvl5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5pPr>
            <a:lvl6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6pPr>
            <a:lvl7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7pPr>
            <a:lvl8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8pPr>
            <a:lvl9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575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All times are Icelandic local time.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581F27-7708-4E20-A7B8-D63DAFB3E134}"/>
              </a:ext>
            </a:extLst>
          </p:cNvPr>
          <p:cNvSpPr>
            <a:spLocks noGrp="1"/>
          </p:cNvSpPr>
          <p:nvPr/>
        </p:nvSpPr>
        <p:spPr>
          <a:xfrm>
            <a:off x="695325" y="1609725"/>
            <a:ext cx="2619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Wed 28 Oct · 16:00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97C36A-CAF4-464E-9C5F-68518C0182D4}"/>
              </a:ext>
            </a:extLst>
          </p:cNvPr>
          <p:cNvSpPr>
            <a:spLocks noGrp="1"/>
          </p:cNvSpPr>
          <p:nvPr/>
        </p:nvSpPr>
        <p:spPr>
          <a:xfrm>
            <a:off x="3448050" y="1609725"/>
            <a:ext cx="506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Online introduction for registered teams.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DD46B8-0EB4-4B29-A769-6540D8586704}"/>
              </a:ext>
            </a:extLst>
          </p:cNvPr>
          <p:cNvSpPr>
            <a:spLocks noGrp="1"/>
          </p:cNvSpPr>
          <p:nvPr/>
        </p:nvSpPr>
        <p:spPr>
          <a:xfrm>
            <a:off x="695325" y="2133600"/>
            <a:ext cx="2619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Fri 30 Oct · 15:00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449FF3-69D8-41E9-9F3F-1158746B0381}"/>
              </a:ext>
            </a:extLst>
          </p:cNvPr>
          <p:cNvSpPr>
            <a:spLocks noGrp="1"/>
          </p:cNvSpPr>
          <p:nvPr/>
        </p:nvSpPr>
        <p:spPr>
          <a:xfrm>
            <a:off x="3448050" y="2133600"/>
            <a:ext cx="506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Kickoff and release of project materials and data.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B38C41-C57B-44C9-BB50-4436087C9554}"/>
              </a:ext>
            </a:extLst>
          </p:cNvPr>
          <p:cNvSpPr>
            <a:spLocks noGrp="1"/>
          </p:cNvSpPr>
          <p:nvPr/>
        </p:nvSpPr>
        <p:spPr>
          <a:xfrm>
            <a:off x="695325" y="2657475"/>
            <a:ext cx="2619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Sat 31 Oct · 08:00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6154B6-18E5-4B55-A490-ECD80569964D}"/>
              </a:ext>
            </a:extLst>
          </p:cNvPr>
          <p:cNvSpPr>
            <a:spLocks noGrp="1"/>
          </p:cNvSpPr>
          <p:nvPr/>
        </p:nvSpPr>
        <p:spPr>
          <a:xfrm>
            <a:off x="3448050" y="2657475"/>
            <a:ext cx="506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Gróska opens. Saturday access until 22:00.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434815-70F1-4030-A2BC-215E072851BB}"/>
              </a:ext>
            </a:extLst>
          </p:cNvPr>
          <p:cNvSpPr>
            <a:spLocks noGrp="1"/>
          </p:cNvSpPr>
          <p:nvPr/>
        </p:nvSpPr>
        <p:spPr>
          <a:xfrm>
            <a:off x="695325" y="3181350"/>
            <a:ext cx="2619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Sun 1 Nov · 20:00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502A89-6438-4089-9810-8BBCD937ABE3}"/>
              </a:ext>
            </a:extLst>
          </p:cNvPr>
          <p:cNvSpPr>
            <a:spLocks noGrp="1"/>
          </p:cNvSpPr>
          <p:nvPr/>
        </p:nvSpPr>
        <p:spPr>
          <a:xfrm>
            <a:off x="3448050" y="3181350"/>
            <a:ext cx="506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Team presentations · 10 minutes per team.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47FDD7-5E5E-4CD3-B93E-882113515D59}"/>
              </a:ext>
            </a:extLst>
          </p:cNvPr>
          <p:cNvSpPr>
            <a:spLocks noGrp="1"/>
          </p:cNvSpPr>
          <p:nvPr/>
        </p:nvSpPr>
        <p:spPr>
          <a:xfrm>
            <a:off x="695325" y="3705225"/>
            <a:ext cx="26193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Sun 1 Nov · 22:00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23A620-3016-4F7B-83DD-7E34269C5BDB}"/>
              </a:ext>
            </a:extLst>
          </p:cNvPr>
          <p:cNvSpPr>
            <a:spLocks noGrp="1"/>
          </p:cNvSpPr>
          <p:nvPr/>
        </p:nvSpPr>
        <p:spPr>
          <a:xfrm>
            <a:off x="3448050" y="3705225"/>
            <a:ext cx="506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Hackathon ends.</a:t>
            </a:r>
          </a:p>
        </p:txBody>
      </p:sp>
    </p:spTree>
    <p:extLst>
      <p:ext uri="{BB962C8B-B14F-4D97-AF65-F5344CB8AC3E}">
        <p14:creationId xmlns:p14="http://schemas.microsoft.com/office/powerpoint/2010/main" val="969896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7">
            <a:extLst>
              <a:ext uri="{FF2B5EF4-FFF2-40B4-BE49-F238E27FC236}">
                <a16:creationId xmlns:a16="http://schemas.microsoft.com/office/drawing/2014/main" id="{1C223B91-416A-4DDE-9C52-58FB80E0293F}"/>
              </a:ext>
            </a:extLst>
          </p:cNvPr>
          <p:cNvSpPr>
            <a:spLocks noGrp="1"/>
          </p:cNvSpPr>
          <p:nvPr/>
        </p:nvSpPr>
        <p:spPr>
          <a:xfrm>
            <a:off x="8705850" y="4880610"/>
            <a:ext cx="326193" cy="231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>
              <a:defRPr sz="1350"/>
            </a:pPr>
            <a:r>
              <a:rPr sz="1350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pic>
        <p:nvPicPr>
          <p:cNvPr id="3" name="Picture 31">
            <a:extLst>
              <a:ext uri="{FF2B5EF4-FFF2-40B4-BE49-F238E27FC236}">
                <a16:creationId xmlns:a16="http://schemas.microsoft.com/office/drawing/2014/main" id="{1E88C4F0-2236-258E-ADF3-8867FA9190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86" y="4598025"/>
            <a:ext cx="6819744" cy="55509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8D9A7BA-A852-4799-AB3A-3E9842AD0D4E}"/>
              </a:ext>
            </a:extLst>
          </p:cNvPr>
          <p:cNvSpPr>
            <a:spLocks noGrp="1"/>
          </p:cNvSpPr>
          <p:nvPr/>
        </p:nvSpPr>
        <p:spPr>
          <a:xfrm>
            <a:off x="476250" y="952500"/>
            <a:ext cx="8334375" cy="35528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8F8706-3A05-4A3F-8D86-72A9EF4549AD}"/>
              </a:ext>
            </a:extLst>
          </p:cNvPr>
          <p:cNvSpPr>
            <a:spLocks noGrp="1"/>
          </p:cNvSpPr>
          <p:nvPr/>
        </p:nvSpPr>
        <p:spPr>
          <a:xfrm>
            <a:off x="695325" y="400050"/>
            <a:ext cx="7858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Support and Gagnvist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190BD3-49FC-4195-BE1C-A74230A2B20D}"/>
              </a:ext>
            </a:extLst>
          </p:cNvPr>
          <p:cNvSpPr>
            <a:spLocks noGrp="1"/>
          </p:cNvSpPr>
          <p:nvPr/>
        </p:nvSpPr>
        <p:spPr>
          <a:xfrm>
            <a:off x="695325" y="1514475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During the event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92A95A-5FB3-4ADC-8298-E804BFCEBB89}"/>
              </a:ext>
            </a:extLst>
          </p:cNvPr>
          <p:cNvSpPr>
            <a:spLocks noGrp="1"/>
          </p:cNvSpPr>
          <p:nvPr/>
        </p:nvSpPr>
        <p:spPr>
          <a:xfrm>
            <a:off x="2867025" y="1514475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A team chat group will carry announcements and provide a place for questions and clarifications.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C40EE4-B744-4133-8E94-DFB8C7E281C3}"/>
              </a:ext>
            </a:extLst>
          </p:cNvPr>
          <p:cNvSpPr>
            <a:spLocks noGrp="1"/>
          </p:cNvSpPr>
          <p:nvPr/>
        </p:nvSpPr>
        <p:spPr>
          <a:xfrm>
            <a:off x="695325" y="2438400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Gagnvist · 26 Nov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402722-1C13-4798-9096-7E77A46B4B4F}"/>
              </a:ext>
            </a:extLst>
          </p:cNvPr>
          <p:cNvSpPr>
            <a:spLocks noGrp="1"/>
          </p:cNvSpPr>
          <p:nvPr/>
        </p:nvSpPr>
        <p:spPr>
          <a:xfrm>
            <a:off x="2867025" y="2438400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The winning solution will be presented at the conference. The exact presentation slot will be confirmed.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30A555-F85F-4CB0-96B2-A39F095DE104}"/>
              </a:ext>
            </a:extLst>
          </p:cNvPr>
          <p:cNvSpPr>
            <a:spLocks noGrp="1"/>
          </p:cNvSpPr>
          <p:nvPr/>
        </p:nvSpPr>
        <p:spPr>
          <a:xfrm>
            <a:off x="695325" y="3495675"/>
            <a:ext cx="195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Contacts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6C9CB3-0171-4A55-B0E5-03608A204803}"/>
              </a:ext>
            </a:extLst>
          </p:cNvPr>
          <p:cNvSpPr>
            <a:spLocks noGrp="1"/>
          </p:cNvSpPr>
          <p:nvPr/>
        </p:nvSpPr>
        <p:spPr>
          <a:xfrm>
            <a:off x="2867025" y="3495675"/>
            <a:ext cx="5619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ingolfuh@hi.is     sma41@hi.is</a:t>
            </a:r>
          </a:p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thorarnar@hi.is    seh@hi.is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6CE855-3F5C-4214-B963-9DD782EBC083}"/>
              </a:ext>
            </a:extLst>
          </p:cNvPr>
          <p:cNvSpPr>
            <a:spLocks noGrp="1"/>
          </p:cNvSpPr>
          <p:nvPr/>
        </p:nvSpPr>
        <p:spPr>
          <a:xfrm>
            <a:off x="695325" y="4314825"/>
            <a:ext cx="7858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0">
                <a:solidFill>
                  <a:srgbClr val="5A6D7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Event information: vidburdir.hagstofa.is/datathon2026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11FB1E7-457B-FF88-6944-8743A44AD3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534" y="4541988"/>
            <a:ext cx="1208504" cy="57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89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CEB45EAF-97CF-4700-A895-0296C3CED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30679" y="4543695"/>
            <a:ext cx="314791" cy="517379"/>
          </a:xfrm>
          <a:prstGeom prst="rect">
            <a:avLst/>
          </a:prstGeom>
        </p:spPr>
      </p:pic>
      <p:sp>
        <p:nvSpPr>
          <p:cNvPr id="3" name="Text-2">
            <a:extLst>
              <a:ext uri="{FF2B5EF4-FFF2-40B4-BE49-F238E27FC236}">
                <a16:creationId xmlns:a16="http://schemas.microsoft.com/office/drawing/2014/main" id="{973BD299-CC85-414E-88E6-B0E0C9DFB361}"/>
              </a:ext>
            </a:extLst>
          </p:cNvPr>
          <p:cNvSpPr>
            <a:spLocks noGrp="1"/>
          </p:cNvSpPr>
          <p:nvPr/>
        </p:nvSpPr>
        <p:spPr>
          <a:xfrm>
            <a:off x="8705850" y="4880610"/>
            <a:ext cx="326193" cy="231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>
              <a:defRPr sz="1350"/>
            </a:pPr>
            <a:r>
              <a:rPr sz="1350" b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980D96D6-AB83-C024-9790-B9137C66A1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83" y="4576865"/>
            <a:ext cx="6961511" cy="5666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3CD5931-75CE-491F-8634-71A6B8840A1E}"/>
              </a:ext>
            </a:extLst>
          </p:cNvPr>
          <p:cNvSpPr>
            <a:spLocks noGrp="1"/>
          </p:cNvSpPr>
          <p:nvPr/>
        </p:nvSpPr>
        <p:spPr>
          <a:xfrm>
            <a:off x="476250" y="952500"/>
            <a:ext cx="8334375" cy="35528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I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E89D87-43C4-4A5B-912A-57F05CB5E973}"/>
              </a:ext>
            </a:extLst>
          </p:cNvPr>
          <p:cNvSpPr>
            <a:spLocks noGrp="1"/>
          </p:cNvSpPr>
          <p:nvPr/>
        </p:nvSpPr>
        <p:spPr>
          <a:xfrm>
            <a:off x="695325" y="400050"/>
            <a:ext cx="7858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Questions and next steps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747AD2-20CC-4C1F-B31C-22439DE4A98C}"/>
              </a:ext>
            </a:extLst>
          </p:cNvPr>
          <p:cNvSpPr>
            <a:spLocks noGrp="1"/>
          </p:cNvSpPr>
          <p:nvPr/>
        </p:nvSpPr>
        <p:spPr>
          <a:xfrm>
            <a:off x="695325" y="1543050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Choose your track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D29310-350B-40E1-8B9F-C60AC696CC36}"/>
              </a:ext>
            </a:extLst>
          </p:cNvPr>
          <p:cNvSpPr>
            <a:spLocks noGrp="1"/>
          </p:cNvSpPr>
          <p:nvPr/>
        </p:nvSpPr>
        <p:spPr>
          <a:xfrm>
            <a:off x="2867025" y="1543050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Prepared RAG, direct PX-API or RAG on HPC.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163C59-D824-4CE0-A93F-FD50DA3BFEE0}"/>
              </a:ext>
            </a:extLst>
          </p:cNvPr>
          <p:cNvSpPr>
            <a:spLocks noGrp="1"/>
          </p:cNvSpPr>
          <p:nvPr/>
        </p:nvSpPr>
        <p:spPr>
          <a:xfrm>
            <a:off x="695325" y="2438400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Read and prepare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68A675-F2CA-4A59-8ABD-7DF29E84809B}"/>
              </a:ext>
            </a:extLst>
          </p:cNvPr>
          <p:cNvSpPr>
            <a:spLocks noGrp="1"/>
          </p:cNvSpPr>
          <p:nvPr/>
        </p:nvSpPr>
        <p:spPr>
          <a:xfrm>
            <a:off x="2867025" y="2438400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Follow the track README and check the code, data and compute access before you start.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523775-A651-4D17-BA7D-CA7198822A36}"/>
              </a:ext>
            </a:extLst>
          </p:cNvPr>
          <p:cNvSpPr>
            <a:spLocks noGrp="1"/>
          </p:cNvSpPr>
          <p:nvPr/>
        </p:nvSpPr>
        <p:spPr>
          <a:xfrm>
            <a:off x="695325" y="3390900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1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Build and demonstrate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70CD89-490A-412F-9E27-CEF264CF325B}"/>
              </a:ext>
            </a:extLst>
          </p:cNvPr>
          <p:cNvSpPr>
            <a:spLocks noGrp="1"/>
          </p:cNvSpPr>
          <p:nvPr/>
        </p:nvSpPr>
        <p:spPr>
          <a:xfrm>
            <a:off x="2867025" y="3390900"/>
            <a:ext cx="5581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defPPr>
            <a:lvl1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1pPr>
            <a:lvl2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2pPr>
            <a:lvl3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3pPr>
            <a:lvl4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4pPr>
            <a:lvl5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5pPr>
            <a:lvl6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6pPr>
            <a:lvl7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7pPr>
            <a:lvl8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8pPr>
            <a:lvl9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650" b="0">
                <a:solidFill>
                  <a:srgbClr val="303C4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03C46"/>
                </a:solidFill>
                <a:latin typeface="Calibri"/>
                <a:ea typeface="Calibri"/>
                <a:cs typeface="Calibri"/>
              </a:rPr>
              <a:t>A usable chatbot with clear answers supported by Statistics Iceland’s official data.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A30716-B720-8628-80C1-B55DF32488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676" y="4576865"/>
            <a:ext cx="1187174" cy="56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084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D0F3F-1181-F634-CF0B-ADFCACE43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2CE24093-6CC7-B095-D74F-C5CA80D2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30679" y="4543695"/>
            <a:ext cx="314791" cy="517379"/>
          </a:xfrm>
          <a:prstGeom prst="rect">
            <a:avLst/>
          </a:prstGeom>
        </p:spPr>
      </p:pic>
      <p:sp>
        <p:nvSpPr>
          <p:cNvPr id="3" name="Text-2">
            <a:extLst>
              <a:ext uri="{FF2B5EF4-FFF2-40B4-BE49-F238E27FC236}">
                <a16:creationId xmlns:a16="http://schemas.microsoft.com/office/drawing/2014/main" id="{798E1CEA-4018-15D8-9379-69FCC648B894}"/>
              </a:ext>
            </a:extLst>
          </p:cNvPr>
          <p:cNvSpPr>
            <a:spLocks noGrp="1"/>
          </p:cNvSpPr>
          <p:nvPr/>
        </p:nvSpPr>
        <p:spPr>
          <a:xfrm>
            <a:off x="8705850" y="4880610"/>
            <a:ext cx="326193" cy="231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>
            <a:defPPr>
              <a:defRPr sz="1350"/>
            </a:defPPr>
            <a:lvl1pPr>
              <a:defRPr sz="13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>
              <a:defRPr sz="1350"/>
            </a:pPr>
            <a:r>
              <a:rPr sz="1350" b="0" dirty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is-IS" sz="1350" b="0" dirty="0">
                <a:solidFill>
                  <a:srgbClr val="5A6D7B"/>
                </a:solidFill>
                <a:latin typeface="Calibri"/>
                <a:ea typeface="Calibri"/>
                <a:cs typeface="Calibri"/>
              </a:rPr>
              <a:t>7</a:t>
            </a:r>
            <a:endParaRPr sz="1350" b="0" dirty="0">
              <a:solidFill>
                <a:srgbClr val="5A6D7B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FF812EAE-A6D2-883F-CAD9-C8F291FC3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83" y="4576865"/>
            <a:ext cx="6961511" cy="56663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471DAB0-1398-029C-E590-35820E4B058C}"/>
              </a:ext>
            </a:extLst>
          </p:cNvPr>
          <p:cNvSpPr>
            <a:spLocks noGrp="1"/>
          </p:cNvSpPr>
          <p:nvPr/>
        </p:nvSpPr>
        <p:spPr>
          <a:xfrm>
            <a:off x="695325" y="400050"/>
            <a:ext cx="7858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246FA5"/>
                </a:solidFill>
                <a:latin typeface="Calibri"/>
                <a:ea typeface="Calibri"/>
                <a:cs typeface="Calibri"/>
              </a:defRPr>
            </a:pPr>
            <a:r>
              <a:rPr lang="is-IS" sz="2550" b="0" dirty="0">
                <a:solidFill>
                  <a:srgbClr val="246FA5"/>
                </a:solidFill>
                <a:latin typeface="Calibri"/>
                <a:ea typeface="Calibri"/>
                <a:cs typeface="Calibri"/>
              </a:rPr>
              <a:t>Presentation of tracks and Q&amp;A</a:t>
            </a:r>
            <a:endParaRPr sz="2550" b="0" dirty="0">
              <a:solidFill>
                <a:srgbClr val="246FA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911D0B-3F12-82A7-1796-4E8911751058}"/>
              </a:ext>
            </a:extLst>
          </p:cNvPr>
          <p:cNvSpPr txBox="1"/>
          <p:nvPr/>
        </p:nvSpPr>
        <p:spPr>
          <a:xfrm>
            <a:off x="1053965" y="1855217"/>
            <a:ext cx="7036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S" sz="2800" b="1" dirty="0"/>
              <a:t>Presetation of Track 3, Track 2 and Track 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0235436-B1E9-1863-B492-5DAC8CA4F4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944" y="4565689"/>
            <a:ext cx="1157037" cy="54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2865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2955</TotalTime>
  <Words>1192</Words>
  <Application>Microsoft Macintosh PowerPoint</Application>
  <DocSecurity>0</DocSecurity>
  <PresentationFormat>On-screen Show (16:9)</PresentationFormat>
  <Paragraphs>194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Ingólfur Hjörleifsson - HI</cp:lastModifiedBy>
  <cp:revision>18</cp:revision>
  <dcterms:created xsi:type="dcterms:W3CDTF">2026-10-24T23:47:52Z</dcterms:created>
  <dcterms:modified xsi:type="dcterms:W3CDTF">2026-10-27T01:48:56Z</dcterms:modified>
</cp:coreProperties>
</file>