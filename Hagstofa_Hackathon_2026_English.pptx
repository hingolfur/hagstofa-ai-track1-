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5240000" cy="8572500"/>
  <p:notesSz cx="6858000" cy="9144000"/>
  <p:defaultTextStyle>
    <a:defPPr>
      <a:defRPr lang="en-GB"/>
    </a:defPPr>
    <a:lvl1pPr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1pPr>
    <a:lvl2pPr marL="742950" indent="-28575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2pPr>
    <a:lvl3pPr marL="11430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3pPr>
    <a:lvl4pPr marL="16002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4pPr>
    <a:lvl5pPr marL="20574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Noto Sans" panose="020B050204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618"/>
  </p:normalViewPr>
  <p:slideViewPr>
    <p:cSldViewPr>
      <p:cViewPr varScale="1">
        <p:scale>
          <a:sx n="93" d="100"/>
          <a:sy n="93" d="100"/>
        </p:scale>
        <p:origin x="248" y="20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BAE147C3-C71F-4AB2-90BD-09F17F82AE2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8128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0A4648C8-607F-E4DA-EAF7-57E44752D05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S" altLang="en-I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550C68F-50B2-B90C-E94E-60C201A456B1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I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76C39659-3F17-3C9B-88BA-2BE8109223B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I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487F3D3-6BD7-27D2-C7FB-8B9387F79C25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I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024306B-3F2E-EB15-8A21-2E3269EACFA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4F5F7D9E-5333-D84C-9CDA-A89F41380358}" type="slidenum">
              <a:rPr lang="en-US" altLang="en-IS"/>
              <a:pPr/>
              <a:t>‹#›</a:t>
            </a:fld>
            <a:endParaRPr lang="en-US" altLang="en-I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D00E76A0-F208-467A-ACED-362067DB86D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ABBD0E8-39BA-A440-B053-29B3CE6D5DFC}" type="slidenum">
              <a:rPr lang="en-US" altLang="en-IS"/>
              <a:pPr/>
              <a:t>1</a:t>
            </a:fld>
            <a:endParaRPr lang="en-US" altLang="en-IS"/>
          </a:p>
        </p:txBody>
      </p:sp>
      <p:sp>
        <p:nvSpPr>
          <p:cNvPr id="16385" name="Text Box 1">
            <a:extLst>
              <a:ext uri="{FF2B5EF4-FFF2-40B4-BE49-F238E27FC236}">
                <a16:creationId xmlns:a16="http://schemas.microsoft.com/office/drawing/2014/main" id="{126DF435-69EC-9EF9-7205-937E071413C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372658EF-68BC-F9E9-C197-60AAC4E7F11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Based on the architecture supplied by the organiser. The provided Track 1 backend routes index questions to Excel/SQL lookup and migration questions to ChromaDB. BGE-M3 generates retrieval embeddings. Ollama runs the fine-tuned Llama 3 + LoRA model. Validate numerical values and sources before presenting the answer.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8390B137-3CA9-2534-5E88-DB79D9267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15EF8485-6698-F61E-8FDE-F381F886406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7B90CB4-5B7E-7B42-9DEF-74E3AED987A5}" type="slidenum">
              <a:rPr lang="en-US" altLang="en-IS"/>
              <a:pPr/>
              <a:t>2</a:t>
            </a:fld>
            <a:endParaRPr lang="en-US" altLang="en-IS"/>
          </a:p>
        </p:txBody>
      </p:sp>
      <p:sp>
        <p:nvSpPr>
          <p:cNvPr id="17409" name="Text Box 1">
            <a:extLst>
              <a:ext uri="{FF2B5EF4-FFF2-40B4-BE49-F238E27FC236}">
                <a16:creationId xmlns:a16="http://schemas.microsoft.com/office/drawing/2014/main" id="{5C1DFD3B-E20B-9904-3AB4-D70324EF0CB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Text Box 2">
            <a:extLst>
              <a:ext uri="{FF2B5EF4-FFF2-40B4-BE49-F238E27FC236}">
                <a16:creationId xmlns:a16="http://schemas.microsoft.com/office/drawing/2014/main" id="{816623CE-0701-F460-94F8-2D86876AC82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threading.Lock protects a shared code section within one process. Multiple workers or a shared Ollama service require a shared queue or concurrency control. Avoid blocking an async event loop with blocking locks and HTTP calls. Low temperature does not guarantee correct answers. Sources: https://docs.python.org/3/library/threading.html#lock-objects and https://docs.ollama.com/api/generate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6A46D7C7-5B32-26A6-4BED-EC713D0D0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C935233E-E41D-60E0-D9D3-B96B1C545AB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9B29DDC-239A-F54B-A9B4-9827346B9C47}" type="slidenum">
              <a:rPr lang="en-US" altLang="en-IS"/>
              <a:pPr/>
              <a:t>3</a:t>
            </a:fld>
            <a:endParaRPr lang="en-US" altLang="en-IS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45AFE600-2BFF-BF55-A974-C0AE28A7076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6702E114-1E4F-F496-53D3-BED458E4C37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Batch size 2,000 comes from the supplied design. Distinguish the retrieval embedding model (BGE-M3) from tokenisation and internal token embeddings in Llama 3. Llama 3 tokenisation is part of inference, not a one-time startup operation. FastAPI recommends lifespan: https://fastapi.tiangolo.com/advanced/events/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93AC7FF4-C25B-A1D5-12F6-966C7741F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36818737-DEC1-3126-BE3F-625DB37C6FC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6584E7-4E27-AF4D-B03B-E7C377EDF84C}" type="slidenum">
              <a:rPr lang="en-US" altLang="en-IS"/>
              <a:pPr/>
              <a:t>4</a:t>
            </a:fld>
            <a:endParaRPr lang="en-US" altLang="en-IS"/>
          </a:p>
        </p:txBody>
      </p:sp>
      <p:sp>
        <p:nvSpPr>
          <p:cNvPr id="19457" name="Text Box 1">
            <a:extLst>
              <a:ext uri="{FF2B5EF4-FFF2-40B4-BE49-F238E27FC236}">
                <a16:creationId xmlns:a16="http://schemas.microsoft.com/office/drawing/2014/main" id="{A8A384C2-ADC8-AC43-4B09-F2699E41F1D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58" name="Text Box 2">
            <a:extLst>
              <a:ext uri="{FF2B5EF4-FFF2-40B4-BE49-F238E27FC236}">
                <a16:creationId xmlns:a16="http://schemas.microsoft.com/office/drawing/2014/main" id="{10300493-7306-4114-29A6-40FD8D2E13C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This is the target architecture for Track 2. Teams implement the LLM integration as specified on slide 7. Values may be counts, currency amounts, percentages or indices. A direct API source does not automatically ensure correct table selection or interpretation. Source: https://www.hagstofa.is/utgafur/leidbeiningar/talnagrunnur/um-api/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137155E8-82C0-22D8-5313-AC806D05B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CA5B60CB-7121-2954-5CC5-CB36E4097B5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7F262D4-BD2C-EC49-A7B9-8D273D3D7B7C}" type="slidenum">
              <a:rPr lang="en-US" altLang="en-IS"/>
              <a:pPr/>
              <a:t>5</a:t>
            </a:fld>
            <a:endParaRPr lang="en-US" altLang="en-IS"/>
          </a:p>
        </p:txBody>
      </p:sp>
      <p:sp>
        <p:nvSpPr>
          <p:cNvPr id="20481" name="Text Box 1">
            <a:extLst>
              <a:ext uri="{FF2B5EF4-FFF2-40B4-BE49-F238E27FC236}">
                <a16:creationId xmlns:a16="http://schemas.microsoft.com/office/drawing/2014/main" id="{AFBEF395-D5DD-53AB-3E0D-AA87C373281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FA3B7813-0B6D-1915-440F-73EF274B81E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NFKD alone converts neither þ to th nor æ to ae. Explicit character mappings are needed in hreinsa_texta(). An empty query filter [] is not a universally safe fallback: behaviour and result size depend on the table and API. Limit result size and preserve the meaning of the question. Sources: https://docs.python.org/3/library/unicodedata.html and https://www.hagstofa.is/utgafur/leidbeiningar/talnagrunnur/um-api/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39B70CDC-F25A-B328-744F-863F95A89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4DAFDE2E-270A-21F8-7F68-3DA4812A697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E61C44-7455-414D-A08B-5E085975B148}" type="slidenum">
              <a:rPr lang="en-US" altLang="en-IS"/>
              <a:pPr/>
              <a:t>6</a:t>
            </a:fld>
            <a:endParaRPr lang="en-US" altLang="en-IS"/>
          </a:p>
        </p:txBody>
      </p:sp>
      <p:sp>
        <p:nvSpPr>
          <p:cNvPr id="21505" name="Text Box 1">
            <a:extLst>
              <a:ext uri="{FF2B5EF4-FFF2-40B4-BE49-F238E27FC236}">
                <a16:creationId xmlns:a16="http://schemas.microsoft.com/office/drawing/2014/main" id="{F1AE5B08-2332-F9C3-C0F7-C10B962A4EC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6" name="Text Box 2">
            <a:extLst>
              <a:ext uri="{FF2B5EF4-FFF2-40B4-BE49-F238E27FC236}">
                <a16:creationId xmlns:a16="http://schemas.microsoft.com/office/drawing/2014/main" id="{1FAE0405-06A5-C33D-5366-4CAAFA4A7C2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The organiser supplied the scope of 2,009 tables. It is not a new count. The schema example proposes a contract between the catalog and generic query code. Angle-bracket entries are labelled placeholders, not actual codes or executable queries. Store update times, synonyms and dimension meanings as needed. Eliminating per-query catalog disk reads does not mean zero latency. Plan metadata refreshes. The title_is key continues to store the Icelandic table title. FastAPI: https://fastapi.tiangolo.com/advanced/events/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976B0DE7-57FB-9847-6AE6-350C10FFC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7BE93D06-4BCB-8E3C-26A7-D4FD22C7B83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EBD8D29-4EB8-CE42-A581-468BCB5EF64D}" type="slidenum">
              <a:rPr lang="en-US" altLang="en-IS"/>
              <a:pPr/>
              <a:t>7</a:t>
            </a:fld>
            <a:endParaRPr lang="en-US" altLang="en-IS"/>
          </a:p>
        </p:txBody>
      </p:sp>
      <p:sp>
        <p:nvSpPr>
          <p:cNvPr id="22529" name="Text Box 1">
            <a:extLst>
              <a:ext uri="{FF2B5EF4-FFF2-40B4-BE49-F238E27FC236}">
                <a16:creationId xmlns:a16="http://schemas.microsoft.com/office/drawing/2014/main" id="{D09B65C9-00AF-11C1-BD45-D179E5DA63D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C91A8AC0-2539-ECA2-5FD8-F491FA10436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Track 2: multiple questions in one cURL command means one HTTP payload containing a list or a compound question. This differs from concurrent requests from multiple users. Teams design the request schema, answer ordering, timeouts and partial-failure handling. Manage concurrent PX-API calls separately from Ollama inference load. Track 1 gives teams more time for UI/UX and integration with the supplied backend.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58E3887D-FB74-D365-BB59-C9DA1C097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B9DAC83E-FF4C-9751-4D0F-1EBEB2D00DC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6529898-4A69-5541-B2A7-D9DF2994CEC1}" type="slidenum">
              <a:rPr lang="en-US" altLang="en-IS"/>
              <a:pPr/>
              <a:t>8</a:t>
            </a:fld>
            <a:endParaRPr lang="en-US" altLang="en-IS"/>
          </a:p>
        </p:txBody>
      </p:sp>
      <p:sp>
        <p:nvSpPr>
          <p:cNvPr id="23553" name="Text Box 1">
            <a:extLst>
              <a:ext uri="{FF2B5EF4-FFF2-40B4-BE49-F238E27FC236}">
                <a16:creationId xmlns:a16="http://schemas.microsoft.com/office/drawing/2014/main" id="{32937541-2D58-38FF-9196-B4279082C14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61686C70-4F89-EA8F-1DB9-31CD1C6FA93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>
              <a:spcBef>
                <a:spcPts val="13"/>
              </a:spcBef>
              <a:spcAft>
                <a:spcPts val="13"/>
              </a:spcAft>
            </a:pPr>
            <a:r>
              <a:rPr lang="en-US" altLang="en-IS" sz="2000">
                <a:latin typeface="Arial" panose="020B0604020202020204" pitchFamily="34" charset="0"/>
                <a:cs typeface="Noto Sans" panose="020B0502040504020204" pitchFamily="34" charset="0"/>
              </a:rPr>
              <a:t>These are basic macOS/Linux setup commands. Backslash line continuation is for bash/zsh. On Windows, put the package list on one line. --reload is a development setting. 127.0.0.1 is accessible only from the same machine. A frontend on a different origin needs suitable CORS settings. The pip command does not install Ollama, the fine-tuned model or data files. Track 2 can omit ChromaDB and sentence-transformers when it uses PX-API only. The cURL JSON schema depends on the supplied Pydantic input models and is not assumed here.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D5380677-CDE4-9121-F217-9A84EF440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548A-1D41-B3A6-80D0-3BE8C03C6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18BA7-4127-EC0F-03EB-1108585EC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68546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FADB-F153-5A62-4349-FE29239E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63B6-D6C2-5526-89C4-24B46CDE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76247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400E-3D5E-DC70-5349-E3E96CEF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134A6-2888-71E2-6998-F0B0657F7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8084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8AE8-D8A9-8974-FCE6-782ECC33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D6A7-899A-8BE4-DC93-C21C3B469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250" y="2381250"/>
            <a:ext cx="3065463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165EE-A437-D98D-9127-D9855B983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5113" y="2381250"/>
            <a:ext cx="3067050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92020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471F-3E31-D215-8069-CC13E1F6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79D47-E713-0901-1200-95732208B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0E095-28D3-81A2-744E-4A07DF8C8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B6E82-F044-0BBF-1C70-8D625142E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95C16-D4CD-60DE-1A96-D6E19C55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99893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B407-564F-47D7-E661-352C5F6B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04529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40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0216-F817-3D66-6AA5-13A67BC7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8D2B-0161-FABA-285C-4727491CB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EB0E0-15A2-5BBA-48E5-1306FE02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45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5670-923C-385E-0BB7-1A85C5D8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0BB0C-1683-E654-608F-EC1DE2CF8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7A667-2B94-F756-F661-64249603C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16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3B48-A35D-24A2-E029-1E45D7DF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F4D38-7575-3596-44DE-8ECE278C4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800798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F2DD2-F435-6B6F-84A3-9EAC86AB1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01375" y="666750"/>
            <a:ext cx="3379788" cy="70469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CB031-B956-03A7-43CB-D43FB32DE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7250" y="666750"/>
            <a:ext cx="9991725" cy="70469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6500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8001-1C80-E3A9-DB58-448DCE1A4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65AF6-AE9A-5555-E481-370330A03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875784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1D860-7C35-29E1-5020-95E39AFB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2B3DF-BA7F-0DF8-5C03-B4B173D1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87021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3DC2-AFAE-68F7-7F82-A4658EFF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8BABC-C46E-7FED-2B65-CEB152CD4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4929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763D-218A-4EB6-5B51-42365C8C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38A1F-15D6-53CA-1D9A-B33A9C885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006600"/>
            <a:ext cx="6780213" cy="4970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66C1E-8276-C3E7-9858-7A0F3CF83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4613" y="2006600"/>
            <a:ext cx="6781800" cy="4970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546826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BDF1-0202-BF37-3158-6EBC62BD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54BB2-0EEA-7BC4-DB25-34238E5C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B8278-945C-DC90-2AD1-9CA5352E7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BF321-46F1-120A-42F9-8D76B340A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5DD34-0BCD-1469-05FE-E5FCB3519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209770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1FF8-FF93-58C5-DB1B-1E20DDD9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97073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302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7159-7798-18CA-06F7-762A2A6D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5BC6-D2FA-7C7E-C95B-31226B930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0DCB7-279D-2FBF-2F7C-555FD8E49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6057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788E-85F1-C147-55BD-BD5FD988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85245-0A4D-38AA-87DB-A28AFFD77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1C68F-ACA6-12A2-8242-057375BB7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620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E300-39C7-D1E1-F447-9EC3DF7B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46D25-7490-CC0E-E5B1-F0259D76C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138757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A51BF-BDF8-A521-783F-D0011FDC8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49000" y="341313"/>
            <a:ext cx="3427413" cy="66357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D0DDF-14B1-6556-B82C-B6D542FB9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41313"/>
            <a:ext cx="10134600" cy="66357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732675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9805-98C0-94DC-A923-A41DB55DC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6906C-AE0C-4331-5E06-C6E59FEC4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054368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FC7C-D553-50CC-42E8-705007F4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9E57-F3FD-5BE5-DD4D-4F71DEB63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821086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DFF5-18C0-47D2-2C36-B4AE0E18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50487-7C6B-9D5D-7121-184AF41D2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075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F29E-44CB-0D9F-1921-17F77A07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2D9D-4431-4EEF-F5F8-53D76AA75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250" y="2381250"/>
            <a:ext cx="6684963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84DD4-975C-52A7-6747-2D61EB64B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4613" y="2381250"/>
            <a:ext cx="6686550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0882110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47AF-4AB9-8B6F-FA2C-08E521E9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294A-D18D-C97B-E623-CF9CC6C22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A0C41-213B-A237-BD15-E71ED2949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CFBC3-5270-2301-20C9-DEF7834C0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F081F-06E4-7658-008E-EACDDA8FF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3034317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A677-5B32-7F6B-05F3-1B4F20AC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360527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682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DCC4-1E05-1CBE-BC5F-C1CD6140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E788-270B-4F47-09FA-9EFD4F512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FEAC8-1685-702A-ADA8-60CCA22CC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2807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0062-9941-DA6D-BCEB-72F3AD77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0111A-286F-BDEC-DD56-F6AC0A01A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44649-75CD-D47D-B426-546C0CDB9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3569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0874-E041-0B68-3A63-7CCB0CDC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B681D-EC52-860D-E624-3C13CD321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2349874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7F216-0BA1-DD7C-6D41-E9FAAF074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01375" y="666750"/>
            <a:ext cx="3379788" cy="70469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7D7D7-EDB8-A159-86D2-EDDDC43B1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7250" y="666750"/>
            <a:ext cx="9991725" cy="70469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88975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822E-D836-2B01-794C-E18966CAC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0EB48-CF2D-0299-2743-A6B3088EE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75986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308F-4C6E-4281-79AB-2CDA909D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B30E-652E-F8AD-CC70-F628B1EAA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0704082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C34F-6440-D134-5DA3-B08CB7C4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94C44-6B42-1B8A-D2FB-EA9E844E3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00571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E3EC-1B05-E753-6984-0AD32AEF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EC0F9-F8A3-FF0B-B092-39EE9CB02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250" y="2381250"/>
            <a:ext cx="3065463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7B629-F7ED-5384-2584-6BA6333B2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5113" y="2381250"/>
            <a:ext cx="3067050" cy="53324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9139891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CB57-7CCB-5C01-292C-18014D86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5E4EC-B321-6BE6-A0D6-DD5A6EA9D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4D118-2604-E254-D52E-AF955DA2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3ED9C-75D9-D702-98AE-0C5E356B1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3D4F6-9404-5C03-0855-AAA6491560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755940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03DA-A9A2-93B4-B2B2-1768A44B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4458297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0548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6636-949F-94FE-B148-C749B25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AFDD9-485B-ED69-DE64-0C70B05F6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2BDE2-8875-07CB-668E-E39E362F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45791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E060-308F-8062-AC0E-17015380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B6536-3C64-5682-DAEC-563AC98B6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E3895-43AA-89E6-FE5E-1E149774C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1259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2FF3-1277-802A-44BD-F3668801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FA954-42A3-891C-BE7D-8117C8812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770497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C3786-6C95-7798-D92A-7EDE5DEAF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01375" y="666750"/>
            <a:ext cx="3379788" cy="70469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DB2C-998F-CB42-C814-E01F5859C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7250" y="666750"/>
            <a:ext cx="9991725" cy="70469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739957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344B-B89D-D31B-19DB-BB5383D6F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68E0A-50DF-271A-29C3-2E2B1D417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4663149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57A1-40C7-85BF-D380-CC5ACF59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7D1BB-7876-25F1-6280-586D398C2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0" y="2282825"/>
            <a:ext cx="1314450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6270743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CBAD-67B2-22FB-8277-9D38EB33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F6465-027A-392C-45D6-BACD0621A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0195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B67F-8BBF-F5F0-E847-70A962F9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06200-E2BD-3400-731D-09D0142E4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282825"/>
            <a:ext cx="649605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89860-967D-C759-2E3E-7157D3F2D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6200" y="2282825"/>
            <a:ext cx="649605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9941043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84C7-BD77-E2DB-1B3A-59075800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2D9E-D6C1-D746-7AD5-A49AD4433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536F2-B808-462D-86B2-AA612027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7B9FE-78C6-F023-FEFD-8C0DF6E98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E7FA6-7F46-8F76-3CB3-6C0AEC867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7673327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5DE3-F993-6F84-48DC-4078328E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6934817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2416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85E6-9D3D-DB2B-448A-B69FBC79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D606-2A28-F073-54B9-2D8B2F3B5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7923A-95A5-EBE7-4840-315FCC65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02643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4B08-7AAF-E4F7-9943-6B08E367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E9F39-4137-5567-B4C1-25571C3FD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2E141-5908-4679-F621-B6696B902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77583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E2AD-0CDF-77F2-B7B3-3A786F40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96BA3-7644-77F2-43A4-9B04CE39E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0" y="2282825"/>
            <a:ext cx="13144500" cy="5438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8072618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D3860-AB9C-95E6-73DA-1FDC8973D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5" y="2282825"/>
            <a:ext cx="3286125" cy="54387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331DA-98D3-BB30-6C55-8AE8328A7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0" y="2282825"/>
            <a:ext cx="9705975" cy="5438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562727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6FEF-C49A-1F92-B495-2132083E9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3350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F9055-581C-A8CA-38DC-60287CD14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150"/>
            <a:ext cx="11430000" cy="2070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7370046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212A-A4AF-3064-F2A6-60C7454F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903F-B813-05FA-EF4E-E2C6A2024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0" y="2282825"/>
            <a:ext cx="1314450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18471491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A5FC-92E9-2C6F-40C5-63D5066A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6775"/>
            <a:ext cx="13144500" cy="35671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EDEE2-C82C-7529-A1C8-F6A17680B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7225"/>
            <a:ext cx="13144500" cy="1874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754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587B-0C46-60B4-4D81-85669DFB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BCDA-9C97-A938-5D9D-439B1CA08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282825"/>
            <a:ext cx="649605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DB23F-94B7-617C-9B88-34CCDA303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6200" y="2282825"/>
            <a:ext cx="6496050" cy="5438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2713378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EC64-5B3F-8310-3FA7-A0B9E999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457200"/>
            <a:ext cx="13144500" cy="16557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F910-6E95-FCC1-4F95-A1D906150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338" y="2101850"/>
            <a:ext cx="6448425" cy="10302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B097E-9F82-08AD-EDC0-02F81BB62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338" y="3132138"/>
            <a:ext cx="6448425" cy="4605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32907-269D-6371-22A6-4102112F8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0" y="2101850"/>
            <a:ext cx="6478588" cy="10302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D9EE8-C251-AE78-0A9D-07BA46737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0" y="3132138"/>
            <a:ext cx="6478588" cy="4605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3492932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54B5-C305-DD53-C8F5-90079D46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9946514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886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DF04-19A1-84CD-A168-DB421968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0FF60-1AFC-7FAF-8B38-51A4EC1DB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588" y="1235075"/>
            <a:ext cx="7715250" cy="60912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D961F-591D-27B8-4CC2-647B679DE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36099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6869-FBD0-884C-34E0-FA039DF1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38" y="571500"/>
            <a:ext cx="4916487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3BB86-E5FC-C6B0-26B1-37BC4EE3A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588" y="1235075"/>
            <a:ext cx="7715250" cy="6091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61505-5BF4-61B6-1735-9C7A5DF4D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338" y="2571750"/>
            <a:ext cx="4916487" cy="476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6872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5411-4C32-CA8C-25A8-7C7F0A0A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68A57-3B6A-1730-B966-C9E120683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0" y="2282825"/>
            <a:ext cx="13144500" cy="5438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6844050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4FAC0-B612-2776-2BC0-B9D08DD50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5" y="2282825"/>
            <a:ext cx="3286125" cy="54387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F1E99-B324-CD5D-4A35-9260BAB16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0" y="2282825"/>
            <a:ext cx="9705975" cy="5438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0113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3985C906-5465-40A3-E392-85CA4A5E8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7250" y="666750"/>
            <a:ext cx="13523913" cy="104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B597D7EA-1C13-4AAC-0DDF-9C40BB110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2381250"/>
            <a:ext cx="6284913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outline text format</a:t>
            </a:r>
          </a:p>
          <a:p>
            <a:pPr lvl="1"/>
            <a:r>
              <a:rPr lang="en-GB" altLang="en-IS"/>
              <a:t>Second Outline Level</a:t>
            </a:r>
          </a:p>
          <a:p>
            <a:pPr lvl="2"/>
            <a:r>
              <a:rPr lang="en-GB" altLang="en-IS"/>
              <a:t>Third Outline Level</a:t>
            </a:r>
          </a:p>
          <a:p>
            <a:pPr lvl="3"/>
            <a:r>
              <a:rPr lang="en-GB" altLang="en-IS"/>
              <a:t>Fourth Outline Level</a:t>
            </a:r>
          </a:p>
          <a:p>
            <a:pPr lvl="4"/>
            <a:r>
              <a:rPr lang="en-GB" altLang="en-IS"/>
              <a:t>Fifth Outline Level</a:t>
            </a:r>
          </a:p>
          <a:p>
            <a:pPr lvl="4"/>
            <a:r>
              <a:rPr lang="en-GB" altLang="en-IS"/>
              <a:t>Sixth Outline Level</a:t>
            </a:r>
          </a:p>
          <a:p>
            <a:pPr lvl="4"/>
            <a:r>
              <a:rPr lang="en-GB" altLang="en-I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C601FEE2-5FE5-9385-9C30-7C6ABB918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41313"/>
            <a:ext cx="13714413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9B53DB8E-BFD2-2C33-F1FA-F57994959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006600"/>
            <a:ext cx="13714413" cy="497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outline text format</a:t>
            </a:r>
          </a:p>
          <a:p>
            <a:pPr lvl="1"/>
            <a:r>
              <a:rPr lang="en-GB" altLang="en-IS"/>
              <a:t>Second Outline Level</a:t>
            </a:r>
          </a:p>
          <a:p>
            <a:pPr lvl="2"/>
            <a:r>
              <a:rPr lang="en-GB" altLang="en-IS"/>
              <a:t>Third Outline Level</a:t>
            </a:r>
          </a:p>
          <a:p>
            <a:pPr lvl="3"/>
            <a:r>
              <a:rPr lang="en-GB" altLang="en-IS"/>
              <a:t>Fourth Outline Level</a:t>
            </a:r>
          </a:p>
          <a:p>
            <a:pPr lvl="4"/>
            <a:r>
              <a:rPr lang="en-GB" altLang="en-IS"/>
              <a:t>Fifth Outline Level</a:t>
            </a:r>
          </a:p>
          <a:p>
            <a:pPr lvl="4"/>
            <a:r>
              <a:rPr lang="en-GB" altLang="en-IS"/>
              <a:t>Sixth Outline Level</a:t>
            </a:r>
          </a:p>
          <a:p>
            <a:pPr lvl="4"/>
            <a:r>
              <a:rPr lang="en-GB" altLang="en-I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F9BA8880-3277-3843-7683-0DA6E8E6F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7250" y="666750"/>
            <a:ext cx="13523913" cy="104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ECB051A-CBEE-EF5B-58D8-DBAA4FB5C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2381250"/>
            <a:ext cx="13523913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outline text format</a:t>
            </a:r>
          </a:p>
          <a:p>
            <a:pPr lvl="1"/>
            <a:r>
              <a:rPr lang="en-GB" altLang="en-IS"/>
              <a:t>Second Outline Level</a:t>
            </a:r>
          </a:p>
          <a:p>
            <a:pPr lvl="2"/>
            <a:r>
              <a:rPr lang="en-GB" altLang="en-IS"/>
              <a:t>Third Outline Level</a:t>
            </a:r>
          </a:p>
          <a:p>
            <a:pPr lvl="3"/>
            <a:r>
              <a:rPr lang="en-GB" altLang="en-IS"/>
              <a:t>Fourth Outline Level</a:t>
            </a:r>
          </a:p>
          <a:p>
            <a:pPr lvl="4"/>
            <a:r>
              <a:rPr lang="en-GB" altLang="en-IS"/>
              <a:t>Fifth Outline Level</a:t>
            </a:r>
          </a:p>
          <a:p>
            <a:pPr lvl="4"/>
            <a:r>
              <a:rPr lang="en-GB" altLang="en-IS"/>
              <a:t>Sixth Outline Level</a:t>
            </a:r>
          </a:p>
          <a:p>
            <a:pPr lvl="4"/>
            <a:r>
              <a:rPr lang="en-GB" altLang="en-I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>
            <a:extLst>
              <a:ext uri="{FF2B5EF4-FFF2-40B4-BE49-F238E27FC236}">
                <a16:creationId xmlns:a16="http://schemas.microsoft.com/office/drawing/2014/main" id="{130A61D7-3D13-C8D5-C256-83A843045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7250" y="666750"/>
            <a:ext cx="13523913" cy="104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9F24D955-187C-4AC5-7D14-7A7EF4EFA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2381250"/>
            <a:ext cx="6284913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outline text format</a:t>
            </a:r>
          </a:p>
          <a:p>
            <a:pPr lvl="1"/>
            <a:r>
              <a:rPr lang="en-GB" altLang="en-IS"/>
              <a:t>Second Outline Level</a:t>
            </a:r>
          </a:p>
          <a:p>
            <a:pPr lvl="2"/>
            <a:r>
              <a:rPr lang="en-GB" altLang="en-IS"/>
              <a:t>Third Outline Level</a:t>
            </a:r>
          </a:p>
          <a:p>
            <a:pPr lvl="3"/>
            <a:r>
              <a:rPr lang="en-GB" altLang="en-IS"/>
              <a:t>Fourth Outline Level</a:t>
            </a:r>
          </a:p>
          <a:p>
            <a:pPr lvl="4"/>
            <a:r>
              <a:rPr lang="en-GB" altLang="en-IS"/>
              <a:t>Fifth Outline Level</a:t>
            </a:r>
          </a:p>
          <a:p>
            <a:pPr lvl="4"/>
            <a:r>
              <a:rPr lang="en-GB" altLang="en-IS"/>
              <a:t>Sixth Outline Level</a:t>
            </a:r>
          </a:p>
          <a:p>
            <a:pPr lvl="4"/>
            <a:r>
              <a:rPr lang="en-GB" altLang="en-I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>
            <a:extLst>
              <a:ext uri="{FF2B5EF4-FFF2-40B4-BE49-F238E27FC236}">
                <a16:creationId xmlns:a16="http://schemas.microsoft.com/office/drawing/2014/main" id="{974B5805-FF60-486A-03DF-AE07A75F4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238500"/>
            <a:ext cx="12190413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755ACAAE-9EDE-45EA-1980-87393CC02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571875"/>
            <a:ext cx="12190413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IS"/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2pPr>
      <a:lvl3pPr marL="1143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3pPr>
      <a:lvl4pPr marL="1600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4pPr>
      <a:lvl5pPr marL="20574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5pPr>
      <a:lvl6pPr marL="25146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6pPr>
      <a:lvl7pPr marL="29718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7pPr>
      <a:lvl8pPr marL="34290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8pPr>
      <a:lvl9pPr marL="3886200" indent="-228600" algn="l" rtl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9pPr>
    </p:titleStyle>
    <p:bodyStyle>
      <a:lvl1pPr marL="342900" indent="-342900" algn="l" rtl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3" name="AutoShape 1">
            <a:extLst>
              <a:ext uri="{FF2B5EF4-FFF2-40B4-BE49-F238E27FC236}">
                <a16:creationId xmlns:a16="http://schemas.microsoft.com/office/drawing/2014/main" id="{720EED01-266B-1BCC-EF39-602547ADA19E}"/>
              </a:ext>
            </a:extLst>
          </p:cNvPr>
          <p:cNvCxnSpPr>
            <a:cxnSpLocks noChangeShapeType="1"/>
            <a:stCxn id="8213" idx="3"/>
            <a:endCxn id="8216" idx="1"/>
          </p:cNvCxnSpPr>
          <p:nvPr/>
        </p:nvCxnSpPr>
        <p:spPr bwMode="auto">
          <a:xfrm flipV="1">
            <a:off x="10572750" y="4506913"/>
            <a:ext cx="571500" cy="1209675"/>
          </a:xfrm>
          <a:prstGeom prst="bentConnector3">
            <a:avLst>
              <a:gd name="adj1" fmla="val 50060"/>
            </a:avLst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4" name="AutoShape 2">
            <a:extLst>
              <a:ext uri="{FF2B5EF4-FFF2-40B4-BE49-F238E27FC236}">
                <a16:creationId xmlns:a16="http://schemas.microsoft.com/office/drawing/2014/main" id="{9B6506A2-3BB9-A2B7-4BD4-F3171D01613C}"/>
              </a:ext>
            </a:extLst>
          </p:cNvPr>
          <p:cNvCxnSpPr>
            <a:cxnSpLocks noChangeShapeType="1"/>
            <a:stCxn id="8210" idx="3"/>
            <a:endCxn id="8216" idx="1"/>
          </p:cNvCxnSpPr>
          <p:nvPr/>
        </p:nvCxnSpPr>
        <p:spPr bwMode="auto">
          <a:xfrm>
            <a:off x="10572750" y="3333750"/>
            <a:ext cx="571500" cy="1171575"/>
          </a:xfrm>
          <a:prstGeom prst="bentConnector3">
            <a:avLst>
              <a:gd name="adj1" fmla="val 50060"/>
            </a:avLst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5" name="AutoShape 3">
            <a:extLst>
              <a:ext uri="{FF2B5EF4-FFF2-40B4-BE49-F238E27FC236}">
                <a16:creationId xmlns:a16="http://schemas.microsoft.com/office/drawing/2014/main" id="{4E745B86-B740-5D26-C814-FFDD26E920B5}"/>
              </a:ext>
            </a:extLst>
          </p:cNvPr>
          <p:cNvCxnSpPr>
            <a:cxnSpLocks noChangeShapeType="1"/>
            <a:stCxn id="8207" idx="3"/>
            <a:endCxn id="8213" idx="1"/>
          </p:cNvCxnSpPr>
          <p:nvPr/>
        </p:nvCxnSpPr>
        <p:spPr bwMode="auto">
          <a:xfrm>
            <a:off x="6524625" y="4410075"/>
            <a:ext cx="620713" cy="1304925"/>
          </a:xfrm>
          <a:prstGeom prst="bentConnector3">
            <a:avLst>
              <a:gd name="adj1" fmla="val 50028"/>
            </a:avLst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6" name="AutoShape 4">
            <a:extLst>
              <a:ext uri="{FF2B5EF4-FFF2-40B4-BE49-F238E27FC236}">
                <a16:creationId xmlns:a16="http://schemas.microsoft.com/office/drawing/2014/main" id="{A58F1FDF-A74A-0C9D-F3FF-6454A84B139F}"/>
              </a:ext>
            </a:extLst>
          </p:cNvPr>
          <p:cNvCxnSpPr>
            <a:cxnSpLocks noChangeShapeType="1"/>
            <a:stCxn id="8207" idx="3"/>
            <a:endCxn id="8210" idx="1"/>
          </p:cNvCxnSpPr>
          <p:nvPr/>
        </p:nvCxnSpPr>
        <p:spPr bwMode="auto">
          <a:xfrm flipV="1">
            <a:off x="6524625" y="3335338"/>
            <a:ext cx="620713" cy="1076325"/>
          </a:xfrm>
          <a:prstGeom prst="bentConnector3">
            <a:avLst>
              <a:gd name="adj1" fmla="val 50028"/>
            </a:avLst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7" name="AutoShape 5">
            <a:extLst>
              <a:ext uri="{FF2B5EF4-FFF2-40B4-BE49-F238E27FC236}">
                <a16:creationId xmlns:a16="http://schemas.microsoft.com/office/drawing/2014/main" id="{6E30E872-3FA4-0042-DD0D-0EB1F0AFD7D9}"/>
              </a:ext>
            </a:extLst>
          </p:cNvPr>
          <p:cNvCxnSpPr>
            <a:cxnSpLocks noChangeShapeType="1"/>
            <a:stCxn id="8204" idx="3"/>
            <a:endCxn id="8207" idx="1"/>
          </p:cNvCxnSpPr>
          <p:nvPr/>
        </p:nvCxnSpPr>
        <p:spPr bwMode="auto">
          <a:xfrm>
            <a:off x="3181350" y="4410075"/>
            <a:ext cx="485775" cy="1588"/>
          </a:xfrm>
          <a:prstGeom prst="straightConnector1">
            <a:avLst/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98" name="Rectangle 6">
            <a:extLst>
              <a:ext uri="{FF2B5EF4-FFF2-40B4-BE49-F238E27FC236}">
                <a16:creationId xmlns:a16="http://schemas.microsoft.com/office/drawing/2014/main" id="{D2627CB2-E356-C2E8-44F6-910EDCBED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53AA18E6-AA5C-0007-814E-F2B1027D3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1: Vector RAG and direct lookup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7F6A8016-029B-1439-BADF-624A81FF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The question determines the data route. Hagur generates an answer from retrieved context.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628C42DE-2FA3-86BF-BFB1-F635D1E9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7B7E68A7-0A3B-4791-3E9C-9F93A6BD2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B9E3A6F5-C21C-EE36-12E2-F7B47E8C3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01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46342741-F22F-DE3C-2045-510533CC0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62325"/>
            <a:ext cx="2571750" cy="2095500"/>
          </a:xfrm>
          <a:prstGeom prst="rect">
            <a:avLst/>
          </a:prstGeom>
          <a:solidFill>
            <a:srgbClr val="DAEF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02266315-AEF6-DF85-B6B3-FCC9E5368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3581400"/>
            <a:ext cx="21526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1  User input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15E0E7F4-B5A2-512D-3EDD-0F1A70251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4143375"/>
            <a:ext cx="21526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cURL or web UI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HTTP POST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/spyrja</a:t>
            </a:r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8E767A54-2C39-C182-507A-8C4D1462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3362325"/>
            <a:ext cx="2857500" cy="2095500"/>
          </a:xfrm>
          <a:prstGeom prst="rect">
            <a:avLst/>
          </a:prstGeom>
          <a:solidFill>
            <a:srgbClr val="087C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384BCB0C-0FB9-FD41-F082-99F88FDA4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581400"/>
            <a:ext cx="2438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FFFFFF"/>
                </a:solidFill>
                <a:cs typeface="Arial" panose="020B0604020202020204" pitchFamily="34" charset="0"/>
              </a:rPr>
              <a:t>2  FastAPI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11DEFD6F-F880-28AD-4682-9914A1034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4143375"/>
            <a:ext cx="24384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spyrja_beint()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Phrase and keyword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matching selects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the data route</a:t>
            </a:r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DD8BE2AB-2414-1E5C-CC68-08C6679A1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381250"/>
            <a:ext cx="3429000" cy="1905000"/>
          </a:xfrm>
          <a:prstGeom prst="rect">
            <a:avLst/>
          </a:prstGeom>
          <a:solidFill>
            <a:srgbClr val="D8F1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2D08559F-E9F6-B1C8-5C2B-129ED358D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2600325"/>
            <a:ext cx="30099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3a  Excel / SQL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0049C78D-FFFC-738A-7ADA-73D9EAB40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3162300"/>
            <a:ext cx="30099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Price indices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cpi_dict in RAM</a:t>
            </a:r>
          </a:p>
        </p:txBody>
      </p:sp>
      <p:sp>
        <p:nvSpPr>
          <p:cNvPr id="8213" name="Rectangle 21">
            <a:extLst>
              <a:ext uri="{FF2B5EF4-FFF2-40B4-BE49-F238E27FC236}">
                <a16:creationId xmlns:a16="http://schemas.microsoft.com/office/drawing/2014/main" id="{1702AC5E-005D-E587-FF80-CFB1AD6F0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4667250"/>
            <a:ext cx="3429000" cy="2095500"/>
          </a:xfrm>
          <a:prstGeom prst="rect">
            <a:avLst/>
          </a:prstGeom>
          <a:solidFill>
            <a:srgbClr val="D8F1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14" name="Rectangle 22">
            <a:extLst>
              <a:ext uri="{FF2B5EF4-FFF2-40B4-BE49-F238E27FC236}">
                <a16:creationId xmlns:a16="http://schemas.microsoft.com/office/drawing/2014/main" id="{B7921926-A1A9-C5D9-3D1E-38944B048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4886325"/>
            <a:ext cx="30099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3b  ChromaDB</a:t>
            </a:r>
          </a:p>
        </p:txBody>
      </p:sp>
      <p:sp>
        <p:nvSpPr>
          <p:cNvPr id="8215" name="Rectangle 23">
            <a:extLst>
              <a:ext uri="{FF2B5EF4-FFF2-40B4-BE49-F238E27FC236}">
                <a16:creationId xmlns:a16="http://schemas.microsoft.com/office/drawing/2014/main" id="{88C8A00A-160E-CB6B-8156-F7346072C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5448300"/>
            <a:ext cx="30099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Domestic migration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hagstofa_master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BAAI/bge-m3</a:t>
            </a:r>
          </a:p>
        </p:txBody>
      </p:sp>
      <p:sp>
        <p:nvSpPr>
          <p:cNvPr id="8216" name="Rectangle 24">
            <a:extLst>
              <a:ext uri="{FF2B5EF4-FFF2-40B4-BE49-F238E27FC236}">
                <a16:creationId xmlns:a16="http://schemas.microsoft.com/office/drawing/2014/main" id="{E845AD1D-847B-7147-4BE7-900C105DC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0" y="3362325"/>
            <a:ext cx="3486150" cy="2286000"/>
          </a:xfrm>
          <a:prstGeom prst="rect">
            <a:avLst/>
          </a:prstGeom>
          <a:solidFill>
            <a:srgbClr val="F7D66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8217" name="Rectangle 25">
            <a:extLst>
              <a:ext uri="{FF2B5EF4-FFF2-40B4-BE49-F238E27FC236}">
                <a16:creationId xmlns:a16="http://schemas.microsoft.com/office/drawing/2014/main" id="{BB37FED0-6256-756E-F8D0-DE50852BF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0" y="3581400"/>
            <a:ext cx="30670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4  Ollama / Hagur</a:t>
            </a:r>
          </a:p>
        </p:txBody>
      </p:sp>
      <p:sp>
        <p:nvSpPr>
          <p:cNvPr id="8218" name="Rectangle 26">
            <a:extLst>
              <a:ext uri="{FF2B5EF4-FFF2-40B4-BE49-F238E27FC236}">
                <a16:creationId xmlns:a16="http://schemas.microsoft.com/office/drawing/2014/main" id="{DC77A1BA-4803-BA0F-D694-6700F16D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0" y="4143375"/>
            <a:ext cx="306705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Context + question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hagstofa-ai:latest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Llama 3 + LoRA</a:t>
            </a:r>
          </a:p>
        </p:txBody>
      </p:sp>
      <p:sp>
        <p:nvSpPr>
          <p:cNvPr id="8219" name="Rectangle 27">
            <a:extLst>
              <a:ext uri="{FF2B5EF4-FFF2-40B4-BE49-F238E27FC236}">
                <a16:creationId xmlns:a16="http://schemas.microsoft.com/office/drawing/2014/main" id="{58875D2D-EA42-3352-CF05-395359C0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191375"/>
            <a:ext cx="1390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200" b="1">
                <a:solidFill>
                  <a:srgbClr val="142D40"/>
                </a:solidFill>
                <a:cs typeface="Arial" panose="020B0604020202020204" pitchFamily="34" charset="0"/>
              </a:rPr>
              <a:t>Output: an Icelandic answer using values and context from the selected data route.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E31A45C6-72ED-749B-3E70-15809F294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9F7DAE76-A14E-0379-466A-8DAE651C2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1: Architecture layers and responsibilities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7707CA3-DE65-5E45-6EFA-4EA78100A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Data storage, query processing and answer generation have distinct responsibilities.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E6981B19-C7DE-B028-E316-41D52A53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CAC03F00-8F62-1D03-695B-BC4FD54FA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86B495BD-0050-D56B-BDD9-A92AA2B8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02</a:t>
            </a:r>
          </a:p>
        </p:txBody>
      </p:sp>
      <p:graphicFrame>
        <p:nvGraphicFramePr>
          <p:cNvPr id="9223" name="Group 7">
            <a:extLst>
              <a:ext uri="{FF2B5EF4-FFF2-40B4-BE49-F238E27FC236}">
                <a16:creationId xmlns:a16="http://schemas.microsoft.com/office/drawing/2014/main" id="{8B9387EF-033D-E955-C204-06A4FB52F92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457450"/>
          <a:ext cx="14022388" cy="453390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324140678"/>
                    </a:ext>
                  </a:extLst>
                </a:gridCol>
                <a:gridCol w="5383213">
                  <a:extLst>
                    <a:ext uri="{9D8B030D-6E8A-4147-A177-3AD203B41FA5}">
                      <a16:colId xmlns:a16="http://schemas.microsoft.com/office/drawing/2014/main" val="1159559345"/>
                    </a:ext>
                  </a:extLst>
                </a:gridCol>
                <a:gridCol w="6305550">
                  <a:extLst>
                    <a:ext uri="{9D8B030D-6E8A-4147-A177-3AD203B41FA5}">
                      <a16:colId xmlns:a16="http://schemas.microsoft.com/office/drawing/2014/main" val="375630024"/>
                    </a:ext>
                  </a:extLst>
                </a:gridCol>
              </a:tblGrid>
              <a:tr h="619125"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</a:p>
                  </a:txBody>
                  <a:tcPr horzOverflow="overflow">
                    <a:lnL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314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components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314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Responsibility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31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834648"/>
                  </a:ext>
                </a:extLst>
              </a:tr>
              <a:tr h="1304925"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horzOverflow="overflow">
                    <a:lnL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ChromaDB persistent client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 / SQL, cpi_df, cpi_dict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METADATA_MIRROR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Loads data at startup.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Caches index values and metadata in RAM.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Retrieves text chunks using vector search.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97644"/>
                  </a:ext>
                </a:extLst>
              </a:tr>
              <a:tr h="1304925"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processing</a:t>
                      </a:r>
                    </a:p>
                  </a:txBody>
                  <a:tcPr horzOverflow="overflow">
                    <a:lnL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FastAPI and hreinsa_texta()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threading.Lock()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ollama_lock: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Normalises text and selects the data route.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Serialises Ollama calls within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single Python process.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188528"/>
                  </a:ext>
                </a:extLst>
              </a:tr>
              <a:tr h="1304925"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generation</a:t>
                      </a:r>
                    </a:p>
                  </a:txBody>
                  <a:tcPr horzOverflow="overflow">
                    <a:lnL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Ollama /api/generate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hagstofa-ai:latest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temperature: 0.2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02000"/>
                        </a:lnSpc>
                        <a:spcBef>
                          <a:spcPts val="142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24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1pPr>
                      <a:lvl2pPr>
                        <a:lnSpc>
                          <a:spcPct val="102000"/>
                        </a:lnSpc>
                        <a:spcBef>
                          <a:spcPts val="113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2pPr>
                      <a:lvl3pPr>
                        <a:lnSpc>
                          <a:spcPct val="102000"/>
                        </a:lnSpc>
                        <a:spcBef>
                          <a:spcPts val="863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3pPr>
                      <a:lvl4pPr>
                        <a:lnSpc>
                          <a:spcPct val="102000"/>
                        </a:lnSpc>
                        <a:spcBef>
                          <a:spcPts val="575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 sz="160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4pPr>
                      <a:lvl5pPr>
                        <a:lnSpc>
                          <a:spcPct val="102000"/>
                        </a:lnSpc>
                        <a:spcBef>
                          <a:spcPts val="288"/>
                        </a:spcBef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5pPr>
                      <a:lvl6pPr marL="25146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6pPr>
                      <a:lvl7pPr marL="29718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7pPr>
                      <a:lvl8pPr marL="34290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8pPr>
                      <a:lvl9pPr marL="3886200" indent="-228600" fontAlgn="base" hangingPunct="0">
                        <a:lnSpc>
                          <a:spcPct val="102000"/>
                        </a:lnSpc>
                        <a:spcBef>
                          <a:spcPts val="288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  <a:defRPr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Combines the question with retrieved data.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temperature reduces variability.</a:t>
                      </a:r>
                    </a:p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ts val="13"/>
                        </a:spcBef>
                        <a:spcAft>
                          <a:spcPts val="13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972800" algn="l"/>
                          <a:tab pos="11887200" algn="l"/>
                          <a:tab pos="12801600" algn="l"/>
                          <a:tab pos="13716000" algn="l"/>
                        </a:tabLst>
                      </a:pPr>
                      <a:r>
                        <a:rPr kumimoji="0" lang="en-US" altLang="en-I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142D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Numerical validation is still required.</a:t>
                      </a:r>
                    </a:p>
                  </a:txBody>
                  <a:tcPr horzOverflow="overflow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96151"/>
                  </a:ext>
                </a:extLst>
              </a:tr>
            </a:tbl>
          </a:graphicData>
        </a:graphic>
      </p:graphicFrame>
      <p:sp>
        <p:nvSpPr>
          <p:cNvPr id="9267" name="Rectangle 51">
            <a:extLst>
              <a:ext uri="{FF2B5EF4-FFF2-40B4-BE49-F238E27FC236}">
                <a16:creationId xmlns:a16="http://schemas.microsoft.com/office/drawing/2014/main" id="{382F1152-F0B1-6F32-2781-C4FAEA0B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258050"/>
            <a:ext cx="139065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700">
                <a:solidFill>
                  <a:srgbClr val="526878"/>
                </a:solidFill>
                <a:cs typeface="Arial" panose="020B0604020202020204" pitchFamily="34" charset="0"/>
              </a:rPr>
              <a:t>Concurrency: the lock does not span Uvicorn worker processes or prevent every out-of-memory error.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03D82F33-4C24-B1AF-46B6-92F37E2EA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B29AF050-674F-D82C-177F-993F5AAC4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1: Startup and query lifecycle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A16CA6B-C32A-89AB-AA5D-817A97FC6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Metadata loads at startup. Retrieval and language models process incoming questions.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8C746EE-B142-EE16-0C50-F9519B5D0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B02B6977-8D66-7B1E-8634-BE0E4757A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5F01CCDD-55CC-470A-DD26-620EFD13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11D006E5-72E2-58AE-9FEC-2DE691129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505075"/>
            <a:ext cx="628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E7A89427-6198-4341-F7F9-47C582EF3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2505075"/>
            <a:ext cx="40005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200" b="1">
                <a:solidFill>
                  <a:srgbClr val="142D40"/>
                </a:solidFill>
                <a:cs typeface="Arial" panose="020B0604020202020204" pitchFamily="34" charset="0"/>
              </a:rPr>
              <a:t>Server startup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69725F21-F6FE-173C-1BFF-ECBD2CF4A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505075"/>
            <a:ext cx="87630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FastAPI initialises data and connections using lifespan.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Older code may use @app.on_event("startup").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68FB54D2-308F-4B5B-3785-3724C54A1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857625"/>
            <a:ext cx="628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02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E237E041-3242-E13C-7976-1BCF2AFE2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3857625"/>
            <a:ext cx="40005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200" b="1">
                <a:solidFill>
                  <a:srgbClr val="142D40"/>
                </a:solidFill>
                <a:cs typeface="Arial" panose="020B0604020202020204" pitchFamily="34" charset="0"/>
              </a:rPr>
              <a:t>In-memory mirror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A5EE710-C11D-3B81-1759-C8815E81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857625"/>
            <a:ext cx="87630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load_metadata_mirror() reads ChromaDB in batches of 2,000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and loads Excel data. Years, regions and sex are cached.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D48BCBAD-E535-DEA2-EA0D-2496200E3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5210175"/>
            <a:ext cx="628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4346B648-600D-D66A-3294-72E2E60A6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210175"/>
            <a:ext cx="40005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200" b="1">
                <a:solidFill>
                  <a:srgbClr val="142D40"/>
                </a:solidFill>
                <a:cs typeface="Arial" panose="020B0604020202020204" pitchFamily="34" charset="0"/>
              </a:rPr>
              <a:t>Query and response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7DEBC383-B2B5-70EC-403C-CF6BDE0E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5210175"/>
            <a:ext cx="87630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BGE-M3 embeds the query. ChromaDB retrieves text chunks.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Llama 3 tokenises the question and context to generate an answer.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918E9D13-D379-0BFA-CEC0-8F1E3A203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705600"/>
            <a:ext cx="14020800" cy="952500"/>
          </a:xfrm>
          <a:prstGeom prst="rect">
            <a:avLst/>
          </a:prstGeom>
          <a:solidFill>
            <a:srgbClr val="DAEF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ABE32245-1067-BDEE-EC42-D3E061D7E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867525"/>
            <a:ext cx="3429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Two distinct roles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ECC56E17-FBE3-665E-D7B2-A256BA314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6905625"/>
            <a:ext cx="1000125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BGE-M3: vector retrieval.     Llama 3 + LoRA: generation from retrieved context.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5" name="AutoShape 1">
            <a:extLst>
              <a:ext uri="{FF2B5EF4-FFF2-40B4-BE49-F238E27FC236}">
                <a16:creationId xmlns:a16="http://schemas.microsoft.com/office/drawing/2014/main" id="{A5F2D0BE-2608-6D97-C1F1-8F8690CDCFFC}"/>
              </a:ext>
            </a:extLst>
          </p:cNvPr>
          <p:cNvCxnSpPr>
            <a:cxnSpLocks noChangeShapeType="1"/>
            <a:stCxn id="11280" idx="3"/>
            <a:endCxn id="11283" idx="1"/>
          </p:cNvCxnSpPr>
          <p:nvPr/>
        </p:nvCxnSpPr>
        <p:spPr bwMode="auto">
          <a:xfrm>
            <a:off x="10915650" y="4333875"/>
            <a:ext cx="723900" cy="1588"/>
          </a:xfrm>
          <a:prstGeom prst="straightConnector1">
            <a:avLst/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66" name="AutoShape 2">
            <a:extLst>
              <a:ext uri="{FF2B5EF4-FFF2-40B4-BE49-F238E27FC236}">
                <a16:creationId xmlns:a16="http://schemas.microsoft.com/office/drawing/2014/main" id="{FEDA3965-4230-2E3E-75ED-D1ADBE1EAFF1}"/>
              </a:ext>
            </a:extLst>
          </p:cNvPr>
          <p:cNvCxnSpPr>
            <a:cxnSpLocks noChangeShapeType="1"/>
            <a:stCxn id="11277" idx="3"/>
            <a:endCxn id="11280" idx="1"/>
          </p:cNvCxnSpPr>
          <p:nvPr/>
        </p:nvCxnSpPr>
        <p:spPr bwMode="auto">
          <a:xfrm>
            <a:off x="7239000" y="4333875"/>
            <a:ext cx="723900" cy="1588"/>
          </a:xfrm>
          <a:prstGeom prst="straightConnector1">
            <a:avLst/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67" name="AutoShape 3">
            <a:extLst>
              <a:ext uri="{FF2B5EF4-FFF2-40B4-BE49-F238E27FC236}">
                <a16:creationId xmlns:a16="http://schemas.microsoft.com/office/drawing/2014/main" id="{034257F3-29D3-8809-63A9-E8A7E67CD34B}"/>
              </a:ext>
            </a:extLst>
          </p:cNvPr>
          <p:cNvCxnSpPr>
            <a:cxnSpLocks noChangeShapeType="1"/>
            <a:stCxn id="11274" idx="3"/>
            <a:endCxn id="11277" idx="1"/>
          </p:cNvCxnSpPr>
          <p:nvPr/>
        </p:nvCxnSpPr>
        <p:spPr bwMode="auto">
          <a:xfrm>
            <a:off x="3562350" y="4333875"/>
            <a:ext cx="723900" cy="1588"/>
          </a:xfrm>
          <a:prstGeom prst="straightConnector1">
            <a:avLst/>
          </a:prstGeom>
          <a:noFill/>
          <a:ln w="28440" cap="flat">
            <a:solidFill>
              <a:srgbClr val="8096A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68" name="Rectangle 4">
            <a:extLst>
              <a:ext uri="{FF2B5EF4-FFF2-40B4-BE49-F238E27FC236}">
                <a16:creationId xmlns:a16="http://schemas.microsoft.com/office/drawing/2014/main" id="{BC62C40A-3182-CC4E-25DC-4240041EA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35B93069-4152-7C6C-BCD7-42B7A385B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2: Direct data retrieval with PX-API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0FB04DD3-CB10-DAC8-E524-AD5BAAE9D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Target architecture without vector retrieval. Teams implement data access and Hagur integration.</a:t>
            </a: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AC820317-8702-8C3A-1259-FD40A5C1A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70791198-E262-C6DF-0A97-2682EDB51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DA7CCD2C-90C1-08BD-683F-18321E07C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DC2E9FCE-4E8C-B8FD-F4CF-14339E928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57500"/>
            <a:ext cx="2952750" cy="2952750"/>
          </a:xfrm>
          <a:prstGeom prst="rect">
            <a:avLst/>
          </a:prstGeom>
          <a:solidFill>
            <a:srgbClr val="DAEF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04A099D5-074A-0390-D8A8-305ADDC9B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3076575"/>
            <a:ext cx="25336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1  Input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20484D48-C499-73E2-6F4A-634B40C9E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3638550"/>
            <a:ext cx="253365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HTTP POST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/spyrja_px_api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Question text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74783273-8642-FA0B-1955-D2B57E0DC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857500"/>
            <a:ext cx="2952750" cy="2952750"/>
          </a:xfrm>
          <a:prstGeom prst="rect">
            <a:avLst/>
          </a:prstGeom>
          <a:solidFill>
            <a:srgbClr val="087C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400E7814-6D11-D5A2-2A4D-A257BF7C7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76575"/>
            <a:ext cx="25336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FFFFFF"/>
                </a:solidFill>
                <a:cs typeface="Arial" panose="020B0604020202020204" pitchFamily="34" charset="0"/>
              </a:rPr>
              <a:t>2  FastAPI</a:t>
            </a:r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547BA38E-D3E5-5EBC-3991-587120CF2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38550"/>
            <a:ext cx="253365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hreinsa_texta()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Extract query fields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HELSTU_TOFLUR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cs typeface="Arial" panose="020B0604020202020204" pitchFamily="34" charset="0"/>
              </a:rPr>
              <a:t>selects a table URL</a:t>
            </a:r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E5C6EFF3-8758-7B5A-4712-0905B8AE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2857500"/>
            <a:ext cx="2952750" cy="2952750"/>
          </a:xfrm>
          <a:prstGeom prst="rect">
            <a:avLst/>
          </a:prstGeom>
          <a:solidFill>
            <a:srgbClr val="D8F1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A1611271-CA6D-ECC8-7FF5-6555A70A3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076575"/>
            <a:ext cx="25336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3  PX-API</a:t>
            </a:r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451E2EDB-3A32-2B64-F632-56D27E36C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38550"/>
            <a:ext cx="253365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GET: metadata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JSON: value filters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POST: data query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Values + units</a:t>
            </a:r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A0978C2C-5D41-C894-E572-45BAEAA52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9550" y="2857500"/>
            <a:ext cx="2990850" cy="2952750"/>
          </a:xfrm>
          <a:prstGeom prst="rect">
            <a:avLst/>
          </a:prstGeom>
          <a:solidFill>
            <a:srgbClr val="F7D66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1284" name="Rectangle 20">
            <a:extLst>
              <a:ext uri="{FF2B5EF4-FFF2-40B4-BE49-F238E27FC236}">
                <a16:creationId xmlns:a16="http://schemas.microsoft.com/office/drawing/2014/main" id="{D7B7A747-1CF8-96EE-DED3-3FEF91103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9100" y="3076575"/>
            <a:ext cx="25717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142D40"/>
                </a:solidFill>
                <a:cs typeface="Arial" panose="020B0604020202020204" pitchFamily="34" charset="0"/>
              </a:rPr>
              <a:t>4  Hagur</a:t>
            </a:r>
          </a:p>
        </p:txBody>
      </p: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BD2DE6BA-AC09-5B5F-7FAE-01A0C24E2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9100" y="3638550"/>
            <a:ext cx="257175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Question + data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Ollama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Llama 3 + LoRA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142D40"/>
                </a:solidFill>
                <a:cs typeface="Arial" panose="020B0604020202020204" pitchFamily="34" charset="0"/>
              </a:rPr>
              <a:t>Answer in Icelandic</a:t>
            </a:r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DB2E7892-C716-4ABA-B147-CE777CD2F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553200"/>
            <a:ext cx="140208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142D40"/>
                </a:solidFill>
                <a:cs typeface="Arial" panose="020B0604020202020204" pitchFamily="34" charset="0"/>
              </a:rPr>
              <a:t>PX-API returns official values. The backend validates selections, units and results.</a:t>
            </a:r>
          </a:p>
        </p:txBody>
      </p:sp>
      <p:sp>
        <p:nvSpPr>
          <p:cNvPr id="11287" name="Rectangle 23">
            <a:extLst>
              <a:ext uri="{FF2B5EF4-FFF2-40B4-BE49-F238E27FC236}">
                <a16:creationId xmlns:a16="http://schemas.microsoft.com/office/drawing/2014/main" id="{C4974EBD-7047-0A01-97AC-53398A03D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400925"/>
            <a:ext cx="14020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526878"/>
                </a:solidFill>
                <a:cs typeface="Arial" panose="020B0604020202020204" pitchFamily="34" charset="0"/>
              </a:rPr>
              <a:t>LLM generation can still introduce errors. Include the source and selected dimensions in the answer.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CDB69565-5815-4872-671D-D3CF68982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920F6482-54C5-A893-3729-C34303896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2: Execution flow in seven steps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CEA5136-8984-99FC-023D-C3246600D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The question becomes a validated dimension filter before the backend retrieves values.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7BBDC62-8270-9F70-0352-91DC068B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42154771-ADD7-C4FF-557E-3993F4DB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EB1085BD-FB9F-C661-D2CC-3BF7051AC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05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5147D0F0-3DE1-E49B-6CD8-3908CDC3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23241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01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1E03D5F8-79C7-7D2E-A4F6-00E4F89A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24100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cURL POST</a:t>
            </a: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71ADFEFB-54EC-DDC6-4FAD-F58BFCFD8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24100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The backend receives the question at /spyrja_px_api.</a:t>
            </a:r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273B5221-E17A-B4EE-72BB-11C4F5D83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3057525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02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F3F15E45-3883-A2E2-2728-27475B72D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57525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Text normalisation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DB6E1B60-0FFA-7682-C6D6-B38103B32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057525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r>
              <a:rPr lang="en-US" altLang="en-IS" sz="2000" dirty="0">
                <a:solidFill>
                  <a:srgbClr val="142D40"/>
                </a:solidFill>
                <a:cs typeface="Arial" panose="020B0604020202020204" pitchFamily="34" charset="0"/>
              </a:rPr>
              <a:t>Apply NFKD, remove combining marks and lowercase. Map </a:t>
            </a:r>
            <a:r>
              <a:rPr lang="en-US" altLang="en-IS" sz="2000" dirty="0" err="1">
                <a:solidFill>
                  <a:srgbClr val="142D40"/>
                </a:solidFill>
                <a:cs typeface="Arial" panose="020B0604020202020204" pitchFamily="34" charset="0"/>
              </a:rPr>
              <a:t>þ</a:t>
            </a:r>
            <a:r>
              <a:rPr lang="en-US" altLang="en-IS" sz="2000" dirty="0">
                <a:solidFill>
                  <a:srgbClr val="142D40"/>
                </a:solidFill>
                <a:cs typeface="Arial" panose="020B0604020202020204" pitchFamily="34" charset="0"/>
              </a:rPr>
              <a:t>/</a:t>
            </a:r>
            <a:r>
              <a:rPr lang="en-US" altLang="en-IS" sz="2000" dirty="0" err="1">
                <a:solidFill>
                  <a:srgbClr val="142D40"/>
                </a:solidFill>
                <a:cs typeface="Arial" panose="020B0604020202020204" pitchFamily="34" charset="0"/>
              </a:rPr>
              <a:t>th</a:t>
            </a:r>
            <a:r>
              <a:rPr lang="en-US" altLang="en-IS" sz="2000" dirty="0">
                <a:solidFill>
                  <a:srgbClr val="142D40"/>
                </a:solidFill>
                <a:cs typeface="Arial" panose="020B0604020202020204" pitchFamily="34" charset="0"/>
              </a:rPr>
              <a:t> and </a:t>
            </a:r>
            <a:r>
              <a:rPr lang="en-US" altLang="en-IS" sz="2000" dirty="0" err="1">
                <a:solidFill>
                  <a:srgbClr val="142D40"/>
                </a:solidFill>
                <a:cs typeface="Arial" panose="020B0604020202020204" pitchFamily="34" charset="0"/>
              </a:rPr>
              <a:t>æ</a:t>
            </a:r>
            <a:r>
              <a:rPr lang="en-US" altLang="en-IS" sz="2000" dirty="0">
                <a:solidFill>
                  <a:srgbClr val="142D40"/>
                </a:solidFill>
                <a:cs typeface="Arial" panose="020B0604020202020204" pitchFamily="34" charset="0"/>
              </a:rPr>
              <a:t>/ae explicitly</a:t>
            </a:r>
            <a:br>
              <a:rPr lang="en-US" altLang="en-IS" sz="2000" dirty="0">
                <a:solidFill>
                  <a:srgbClr val="142D40"/>
                </a:solidFill>
                <a:cs typeface="Arial" panose="020B0604020202020204" pitchFamily="34" charset="0"/>
              </a:rPr>
            </a:br>
            <a:r>
              <a:rPr lang="en-IS" sz="1400" b="1" dirty="0"/>
              <a:t>Normalization Form Compatibility Decomposition</a:t>
            </a:r>
            <a:r>
              <a:rPr lang="en-IS" sz="1400" dirty="0"/>
              <a:t>. It is a Unicode method that</a:t>
            </a:r>
            <a:r>
              <a:rPr lang="en-US" altLang="en-IS" sz="1400" dirty="0">
                <a:solidFill>
                  <a:srgbClr val="142D4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968C751A-22BB-E260-920B-1A44AD954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379095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03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E5CC5962-5B49-C3A5-7603-8711D4A6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90950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Table selection</a:t>
            </a: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81ECD302-E9DB-E829-A460-6C528507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790950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Match query terms and intent against HELSTU_TOFLUR in RAM.</a:t>
            </a: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5866EAD6-92A6-5372-6013-B8436AA9B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4524375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04</a:t>
            </a:r>
          </a:p>
        </p:txBody>
      </p:sp>
      <p:sp>
        <p:nvSpPr>
          <p:cNvPr id="12305" name="Rectangle 17">
            <a:extLst>
              <a:ext uri="{FF2B5EF4-FFF2-40B4-BE49-F238E27FC236}">
                <a16:creationId xmlns:a16="http://schemas.microsoft.com/office/drawing/2014/main" id="{3FB9197E-92D7-6CA0-5DA3-4FC8B140C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524375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Metadata GET</a:t>
            </a:r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0457CF91-4B6B-D179-27C1-9D3625972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524375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Fetch variable names, dimension codes and allowed values for the selected table.</a:t>
            </a:r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BC93EEF8-915D-7DA2-5851-AEE0EAFA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52578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05</a:t>
            </a:r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BD29B0D3-3482-B42E-1053-F71230554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257800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JSON filter and POST</a:t>
            </a:r>
          </a:p>
        </p:txBody>
      </p:sp>
      <p:sp>
        <p:nvSpPr>
          <p:cNvPr id="12309" name="Rectangle 21">
            <a:extLst>
              <a:ext uri="{FF2B5EF4-FFF2-40B4-BE49-F238E27FC236}">
                <a16:creationId xmlns:a16="http://schemas.microsoft.com/office/drawing/2014/main" id="{28D398B2-51EC-FB2B-F6E0-1517C6F4A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257800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Extract years and regions, validate codes and retrieve the relevant data.</a:t>
            </a:r>
          </a:p>
        </p:txBody>
      </p:sp>
      <p:sp>
        <p:nvSpPr>
          <p:cNvPr id="12310" name="Rectangle 22">
            <a:extLst>
              <a:ext uri="{FF2B5EF4-FFF2-40B4-BE49-F238E27FC236}">
                <a16:creationId xmlns:a16="http://schemas.microsoft.com/office/drawing/2014/main" id="{5E474D81-4747-060A-57A7-DCEB1399E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5991225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A26900"/>
                </a:solidFill>
                <a:cs typeface="Arial" panose="020B0604020202020204" pitchFamily="34" charset="0"/>
              </a:rPr>
              <a:t>06</a:t>
            </a:r>
          </a:p>
        </p:txBody>
      </p:sp>
      <p:sp>
        <p:nvSpPr>
          <p:cNvPr id="12311" name="Rectangle 23">
            <a:extLst>
              <a:ext uri="{FF2B5EF4-FFF2-40B4-BE49-F238E27FC236}">
                <a16:creationId xmlns:a16="http://schemas.microsoft.com/office/drawing/2014/main" id="{8F573262-ADFD-CBFA-E698-3FFF51380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991225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Fallback handling</a:t>
            </a:r>
          </a:p>
        </p:txBody>
      </p:sp>
      <p:sp>
        <p:nvSpPr>
          <p:cNvPr id="12312" name="Rectangle 24">
            <a:extLst>
              <a:ext uri="{FF2B5EF4-FFF2-40B4-BE49-F238E27FC236}">
                <a16:creationId xmlns:a16="http://schemas.microsoft.com/office/drawing/2014/main" id="{2FA8B35D-80FD-FB1C-B0D4-2D1B63B8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91225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Clarify invalid or ambiguous selections. Apply size limits to broader queries.</a:t>
            </a:r>
          </a:p>
        </p:txBody>
      </p:sp>
      <p:sp>
        <p:nvSpPr>
          <p:cNvPr id="12313" name="Rectangle 25">
            <a:extLst>
              <a:ext uri="{FF2B5EF4-FFF2-40B4-BE49-F238E27FC236}">
                <a16:creationId xmlns:a16="http://schemas.microsoft.com/office/drawing/2014/main" id="{B5E52086-5EAD-8684-49CE-9280D9227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672465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2300" b="1">
                <a:solidFill>
                  <a:srgbClr val="087CC1"/>
                </a:solidFill>
                <a:cs typeface="Arial" panose="020B0604020202020204" pitchFamily="34" charset="0"/>
              </a:rPr>
              <a:t>07</a:t>
            </a:r>
          </a:p>
        </p:txBody>
      </p:sp>
      <p:sp>
        <p:nvSpPr>
          <p:cNvPr id="12314" name="Rectangle 26">
            <a:extLst>
              <a:ext uri="{FF2B5EF4-FFF2-40B4-BE49-F238E27FC236}">
                <a16:creationId xmlns:a16="http://schemas.microsoft.com/office/drawing/2014/main" id="{0BFB9C95-11CC-6A0D-010A-5F1C8EA6F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724650"/>
            <a:ext cx="3190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Hagur generation</a:t>
            </a:r>
          </a:p>
        </p:txBody>
      </p:sp>
      <p:sp>
        <p:nvSpPr>
          <p:cNvPr id="12315" name="Rectangle 27">
            <a:extLst>
              <a:ext uri="{FF2B5EF4-FFF2-40B4-BE49-F238E27FC236}">
                <a16:creationId xmlns:a16="http://schemas.microsoft.com/office/drawing/2014/main" id="{A6B41025-200F-5483-A89C-4003F54E7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6724650"/>
            <a:ext cx="9525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Send the question, values, units and source together to Llama 3 + LoRA.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6B7DAC46-EA6B-BC40-5EE5-C54F33C3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2A541314-31F0-F7FF-B80B-166B5BEA2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Track 2: A catalog of 2,009 tables in RAM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D4B25A4-F3AC-2733-E8EE-087DBB8D7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Planned scaling through a data-driven catalog and generic query code.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22739DB-F56F-F53B-FA38-3EE153128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C90F808-9CC3-0D38-C461-5218F908C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D55E61F3-0A58-FC6A-FCC3-A59C8BE39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06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5000D818-B278-954E-4B45-00CDDD19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81250"/>
            <a:ext cx="61912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Startup loader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E0603681-23B7-CC18-AEE5-915033874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0"/>
            <a:ext cx="6286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>
                <a:solidFill>
                  <a:srgbClr val="142D40"/>
                </a:solidFill>
                <a:cs typeface="Arial" panose="020B0604020202020204" pitchFamily="34" charset="0"/>
              </a:rPr>
              <a:t>1. lifespan starts the loader.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A0C052A1-76F4-019D-AAF6-B089D8EF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733800"/>
            <a:ext cx="6286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>
                <a:solidFill>
                  <a:srgbClr val="142D40"/>
                </a:solidFill>
                <a:cs typeface="Arial" panose="020B0604020202020204" pitchFamily="34" charset="0"/>
              </a:rPr>
              <a:t>2. Read hagstofa_catalog.json or .csv.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4F7E80D9-9E1E-64D3-707A-CA0DF02D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19600"/>
            <a:ext cx="6286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>
                <a:solidFill>
                  <a:srgbClr val="142D40"/>
                </a:solidFill>
                <a:cs typeface="Arial" panose="020B0604020202020204" pitchFamily="34" charset="0"/>
              </a:rPr>
              <a:t>3. Validate the schema and build a RAM index.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167BBCC9-D09D-C602-F28C-5343E19F7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400"/>
            <a:ext cx="6286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>
                <a:solidFill>
                  <a:srgbClr val="142D40"/>
                </a:solidFill>
                <a:cs typeface="Arial" panose="020B0604020202020204" pitchFamily="34" charset="0"/>
              </a:rPr>
              <a:t>4. Search the in-memory catalog per request.</a:t>
            </a:r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B36DAB05-2F0F-6625-6CBC-E26B874C0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200775"/>
            <a:ext cx="6191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No repeated disk reads for the catalog.</a:t>
            </a:r>
          </a:p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Network, search and LLM latency still apply.</a:t>
            </a:r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62ABFBB7-C374-D353-E6DE-17C25F68F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2362200"/>
            <a:ext cx="7200900" cy="4905375"/>
          </a:xfrm>
          <a:prstGeom prst="rect">
            <a:avLst/>
          </a:prstGeom>
          <a:solidFill>
            <a:srgbClr val="10314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1FFB1288-70E2-3A2B-9B28-17D38DBCE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562225"/>
            <a:ext cx="66675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FFFFFF"/>
                </a:solidFill>
                <a:cs typeface="Arial" panose="020B0604020202020204" pitchFamily="34" charset="0"/>
              </a:rPr>
              <a:t>Example schema for one table</a:t>
            </a:r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0F08373F-C607-CC5E-D4DD-BB29C890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3114675"/>
            <a:ext cx="6667500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"table_id": "&lt;table ID&gt;",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"title_is": "&lt;Icelandic table title&gt;",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"api_url": "&lt;verified PX-API URL&gt;",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"keywords": ["&lt;keyword&gt;"],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"dimensions": {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"&lt;dimension code&gt;": {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"label": "&lt;dimension label&gt;",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"values": {"&lt;code&gt;": "&lt;label&gt;"}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"updated_at": "&lt;ISO 8601&gt;"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8B29097D-1AF8-B93E-2441-FEE0C084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524750"/>
            <a:ext cx="14020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700">
                <a:solidFill>
                  <a:srgbClr val="526878"/>
                </a:solidFill>
                <a:cs typeface="Arial" panose="020B0604020202020204" pitchFamily="34" charset="0"/>
              </a:rPr>
              <a:t>Add tables to the catalog. New dimension meanings or complex questions may require additional rules.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8946418B-8ADF-23B4-AF6C-03685C6AA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8FBB6F0-6950-29D6-5CBF-1328D64D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Team assignments: Track 1 vs. Track 2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C1A8344-2898-2357-0C49-338FC78AB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Both tracks deliver their own web interface. The scope of backend work differs.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AC0D5A2-E6A0-D1D3-5A6E-3C0079B2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ACBE6F79-0912-8BE1-DDFD-5ED4AA152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034AE716-3B5A-16DA-DE2F-3BCA4360D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07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40F9A94B-C565-D28E-2A22-192044C9B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81250"/>
            <a:ext cx="6705600" cy="5124450"/>
          </a:xfrm>
          <a:prstGeom prst="rect">
            <a:avLst/>
          </a:prstGeom>
          <a:solidFill>
            <a:srgbClr val="DAEF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CAE9583E-E477-B26E-FFC5-2B4420B7F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381250"/>
            <a:ext cx="7010400" cy="5124450"/>
          </a:xfrm>
          <a:prstGeom prst="rect">
            <a:avLst/>
          </a:prstGeom>
          <a:solidFill>
            <a:srgbClr val="D8F1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A9F3F716-E780-7DA3-764F-83E4F2A3C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2628900"/>
            <a:ext cx="619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TRACK 1   VECTOR RAG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A7674543-249F-5460-01D0-40CFBA4C9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3314700"/>
            <a:ext cx="619125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Provided starting point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3F96E061-0A1E-99D8-B077-1C2BE7963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3762375"/>
            <a:ext cx="619125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FastAPI code, a price-index file and ChromaDB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with domestic migration data.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2AE1D97-F729-37B4-32A4-308E51ACD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829175"/>
            <a:ext cx="619125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Team tasks</a:t>
            </a:r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52238EF4-41BD-1249-BE07-7E8FF5A76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5276850"/>
            <a:ext cx="619125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Set up venv and test /spyrja with cURL.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Build your own chatbot web interface.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Connect the frontend to FastAPI.</a:t>
            </a:r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BD8B6B25-3C30-EE46-BEEC-097A05D0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6867525"/>
            <a:ext cx="61912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 b="1">
                <a:solidFill>
                  <a:srgbClr val="087CC1"/>
                </a:solidFill>
                <a:cs typeface="Arial" panose="020B0604020202020204" pitchFamily="34" charset="0"/>
              </a:rPr>
              <a:t>RAG and Ollama integration are included.</a:t>
            </a:r>
          </a:p>
        </p:txBody>
      </p:sp>
      <p:sp>
        <p:nvSpPr>
          <p:cNvPr id="14351" name="Rectangle 15">
            <a:extLst>
              <a:ext uri="{FF2B5EF4-FFF2-40B4-BE49-F238E27FC236}">
                <a16:creationId xmlns:a16="http://schemas.microsoft.com/office/drawing/2014/main" id="{E98FA161-7810-9316-BADA-59831F4F5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26289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167651"/>
                </a:solidFill>
                <a:cs typeface="Arial" panose="020B0604020202020204" pitchFamily="34" charset="0"/>
              </a:rPr>
              <a:t>TRACK 2   DYNAMIC PX-API</a:t>
            </a:r>
          </a:p>
        </p:txBody>
      </p:sp>
      <p:sp>
        <p:nvSpPr>
          <p:cNvPr id="14352" name="Rectangle 16">
            <a:extLst>
              <a:ext uri="{FF2B5EF4-FFF2-40B4-BE49-F238E27FC236}">
                <a16:creationId xmlns:a16="http://schemas.microsoft.com/office/drawing/2014/main" id="{F488953A-0AB6-5EC6-6949-BDC7FDA6A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3314700"/>
            <a:ext cx="64770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Provided starting point</a:t>
            </a:r>
          </a:p>
        </p:txBody>
      </p:sp>
      <p:sp>
        <p:nvSpPr>
          <p:cNvPr id="14353" name="Rectangle 17">
            <a:extLst>
              <a:ext uri="{FF2B5EF4-FFF2-40B4-BE49-F238E27FC236}">
                <a16:creationId xmlns:a16="http://schemas.microsoft.com/office/drawing/2014/main" id="{2FCF418F-68DA-B057-BC21-164A537BA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3762375"/>
            <a:ext cx="6477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A FastAPI starter for direct PX-API access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and local setup.</a:t>
            </a:r>
          </a:p>
        </p:txBody>
      </p:sp>
      <p:sp>
        <p:nvSpPr>
          <p:cNvPr id="14354" name="Rectangle 18">
            <a:extLst>
              <a:ext uri="{FF2B5EF4-FFF2-40B4-BE49-F238E27FC236}">
                <a16:creationId xmlns:a16="http://schemas.microsoft.com/office/drawing/2014/main" id="{1C468027-BC29-22D1-8635-5B37630EC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4829175"/>
            <a:ext cx="64770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Team tasks</a:t>
            </a:r>
          </a:p>
        </p:txBody>
      </p:sp>
      <p:sp>
        <p:nvSpPr>
          <p:cNvPr id="14355" name="Rectangle 19">
            <a:extLst>
              <a:ext uri="{FF2B5EF4-FFF2-40B4-BE49-F238E27FC236}">
                <a16:creationId xmlns:a16="http://schemas.microsoft.com/office/drawing/2014/main" id="{46AB60B9-7C13-8714-28DF-470B9CC4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5276850"/>
            <a:ext cx="64770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Extend table search and GET/POST queries.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Support multiple questions in one API call.</a:t>
            </a:r>
          </a:p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142D40"/>
                </a:solidFill>
                <a:cs typeface="Arial" panose="020B0604020202020204" pitchFamily="34" charset="0"/>
              </a:rPr>
              <a:t>Build Ollama integration and your own frontend.</a:t>
            </a:r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CACC8ABF-B39B-275D-5F6B-E768CA36E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6867525"/>
            <a:ext cx="647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 b="1">
                <a:solidFill>
                  <a:srgbClr val="167651"/>
                </a:solidFill>
                <a:cs typeface="Arial" panose="020B0604020202020204" pitchFamily="34" charset="0"/>
              </a:rPr>
              <a:t>Teams implement concurrency and responses.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DCFA9FA2-BA62-F182-2ED9-6AC8D688B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3375"/>
            <a:ext cx="123825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500" b="1">
                <a:solidFill>
                  <a:srgbClr val="087CC1"/>
                </a:solidFill>
                <a:cs typeface="Arial" panose="020B0604020202020204" pitchFamily="34" charset="0"/>
              </a:rPr>
              <a:t>STATISTICS ICELAND HACKATHON 2026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0897107-9149-6BBA-5816-C9064B517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7725"/>
            <a:ext cx="1402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3500" b="1">
                <a:solidFill>
                  <a:srgbClr val="142D40"/>
                </a:solidFill>
                <a:cs typeface="Arial" panose="020B0604020202020204" pitchFamily="34" charset="0"/>
              </a:rPr>
              <a:t>Shared deliverables and developer setup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BD161B8-DB39-D0C3-5694-14C3C6403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81150"/>
            <a:ext cx="139065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>
                <a:solidFill>
                  <a:srgbClr val="526878"/>
                </a:solidFill>
                <a:cs typeface="Arial" panose="020B0604020202020204" pitchFamily="34" charset="0"/>
              </a:rPr>
              <a:t>Both tracks deliver a working chatbot web interface connected to FastAPI.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67691B5-FF7C-259F-8E0E-730A7A34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991475"/>
            <a:ext cx="14020800" cy="19050"/>
          </a:xfrm>
          <a:prstGeom prst="rect">
            <a:avLst/>
          </a:prstGeom>
          <a:solidFill>
            <a:srgbClr val="D7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20E7C68-7DFA-1073-E05C-CE88D963E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143875"/>
            <a:ext cx="123825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400">
                <a:solidFill>
                  <a:srgbClr val="526878"/>
                </a:solidFill>
                <a:cs typeface="Arial" panose="020B0604020202020204" pitchFamily="34" charset="0"/>
              </a:rPr>
              <a:t>Hagur · Unified architecture and team blueprint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443C73D7-B5CE-D18F-5818-F7E01239A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0" y="8105775"/>
            <a:ext cx="6191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altLang="en-IS" sz="1700" b="1">
                <a:solidFill>
                  <a:srgbClr val="526878"/>
                </a:solidFill>
                <a:cs typeface="Arial" panose="020B0604020202020204" pitchFamily="34" charset="0"/>
              </a:rPr>
              <a:t>08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EC7EE97A-C1B7-03F3-4996-896A3A53F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419350"/>
            <a:ext cx="48577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400" b="1">
                <a:solidFill>
                  <a:srgbClr val="087CC1"/>
                </a:solidFill>
                <a:cs typeface="Arial" panose="020B0604020202020204" pitchFamily="34" charset="0"/>
              </a:rPr>
              <a:t>Deliverables and testing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028E52AF-5C42-A54D-D1E7-148C20A8A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86100"/>
            <a:ext cx="485775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Your own web interface with clear</a:t>
            </a:r>
          </a:p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loading and error messages.</a:t>
            </a:r>
          </a:p>
          <a:p>
            <a:pPr>
              <a:lnSpc>
                <a:spcPct val="100000"/>
              </a:lnSpc>
            </a:pPr>
            <a:endParaRPr lang="en-US" altLang="en-IS" sz="2200">
              <a:solidFill>
                <a:srgbClr val="142D40"/>
              </a:solidFill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Answers show values, units</a:t>
            </a:r>
          </a:p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and sources where applicable.</a:t>
            </a:r>
          </a:p>
          <a:p>
            <a:pPr>
              <a:lnSpc>
                <a:spcPct val="100000"/>
              </a:lnSpc>
            </a:pPr>
            <a:endParaRPr lang="en-US" altLang="en-IS" sz="2200">
              <a:solidFill>
                <a:srgbClr val="142D40"/>
              </a:solidFill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Test with cURL and</a:t>
            </a:r>
          </a:p>
          <a:p>
            <a:pPr>
              <a:lnSpc>
                <a:spcPct val="100000"/>
              </a:lnSpc>
            </a:pPr>
            <a:r>
              <a:rPr lang="en-US" altLang="en-IS" sz="2200">
                <a:solidFill>
                  <a:srgbClr val="142D40"/>
                </a:solidFill>
                <a:cs typeface="Arial" panose="020B0604020202020204" pitchFamily="34" charset="0"/>
              </a:rPr>
              <a:t>user questions in the browser.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0EC821BC-D163-BD15-4FC5-2CB32A9D2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715125"/>
            <a:ext cx="485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000" b="1">
                <a:solidFill>
                  <a:srgbClr val="142D40"/>
                </a:solidFill>
                <a:cs typeface="Arial" panose="020B0604020202020204" pitchFamily="34" charset="0"/>
              </a:rPr>
              <a:t>Prerequisites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4C526B7D-FFB3-81A3-157C-810CBCA4C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181850"/>
            <a:ext cx="485775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526878"/>
                </a:solidFill>
                <a:cs typeface="Arial" panose="020B0604020202020204" pitchFamily="34" charset="0"/>
              </a:rPr>
              <a:t>Data and models available. Ollama running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526878"/>
                </a:solidFill>
                <a:cs typeface="Arial" panose="020B0604020202020204" pitchFamily="34" charset="0"/>
              </a:rPr>
              <a:t>with hagstofa-ai:latest installed.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A62F41FD-55B7-1BF4-700D-49207FC8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2362200"/>
            <a:ext cx="8724900" cy="4514850"/>
          </a:xfrm>
          <a:prstGeom prst="rect">
            <a:avLst/>
          </a:prstGeom>
          <a:solidFill>
            <a:srgbClr val="10314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S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AAFD9B87-64D0-ABCA-3031-DE915D7F8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571750"/>
            <a:ext cx="800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2100" b="1">
                <a:solidFill>
                  <a:srgbClr val="FFFFFF"/>
                </a:solidFill>
                <a:cs typeface="Arial" panose="020B0604020202020204" pitchFamily="34" charset="0"/>
              </a:rPr>
              <a:t>Development setup</a:t>
            </a:r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76A2DDD6-63C0-F615-67BF-8F77B8E61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3181350"/>
            <a:ext cx="8096250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python -m venv venv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venv/bin/activate</a:t>
            </a:r>
          </a:p>
          <a:p>
            <a:pPr>
              <a:lnSpc>
                <a:spcPct val="100000"/>
              </a:lnSpc>
            </a:pPr>
            <a:endParaRPr lang="en-US" altLang="en-IS" sz="190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python -m pip install fastapi uvicorn requests \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pydantic pandas openpyxl chromadb \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sentence-transformers</a:t>
            </a:r>
          </a:p>
          <a:p>
            <a:pPr>
              <a:lnSpc>
                <a:spcPct val="100000"/>
              </a:lnSpc>
            </a:pPr>
            <a:endParaRPr lang="en-US" altLang="en-IS" sz="1900">
              <a:solidFill>
                <a:srgbClr val="FFFF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uvicorn main:app --reload \</a:t>
            </a:r>
          </a:p>
          <a:p>
            <a:pPr>
              <a:lnSpc>
                <a:spcPct val="100000"/>
              </a:lnSpc>
            </a:pPr>
            <a:r>
              <a:rPr lang="en-US" altLang="en-IS" sz="190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--host 127.0.0.1 --port 8000</a:t>
            </a:r>
          </a:p>
        </p:txBody>
      </p:sp>
      <p:sp>
        <p:nvSpPr>
          <p:cNvPr id="15374" name="Rectangle 14">
            <a:extLst>
              <a:ext uri="{FF2B5EF4-FFF2-40B4-BE49-F238E27FC236}">
                <a16:creationId xmlns:a16="http://schemas.microsoft.com/office/drawing/2014/main" id="{55AEAAD0-F9FC-8462-64B0-01F107E0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7096125"/>
            <a:ext cx="85725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127A0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" panose="020B0502040504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526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Windows PowerShell: .\venv\Scripts\Activate.ps1</a:t>
            </a:r>
          </a:p>
          <a:p>
            <a:pPr>
              <a:lnSpc>
                <a:spcPct val="100000"/>
              </a:lnSpc>
            </a:pPr>
            <a:r>
              <a:rPr lang="en-US" altLang="en-IS">
                <a:solidFill>
                  <a:srgbClr val="526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Windows cmd: venv\Scripts\activate.bat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I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Noto Sans" panose="020B0502040504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1779</Words>
  <Application>Microsoft Macintosh PowerPoint</Application>
  <PresentationFormat>Custom</PresentationFormat>
  <Paragraphs>222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Arial</vt:lpstr>
      <vt:lpstr>Consolas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Ingólfur Hjörleifsson - HI</cp:lastModifiedBy>
  <cp:revision>2</cp:revision>
  <cp:lastPrinted>1601-01-01T00:00:00Z</cp:lastPrinted>
  <dcterms:created xsi:type="dcterms:W3CDTF">2026-10-22T10:23:28Z</dcterms:created>
  <dcterms:modified xsi:type="dcterms:W3CDTF">2026-10-28T16:41:55Z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